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59" r:id="rId3"/>
    <p:sldId id="258" r:id="rId4"/>
    <p:sldId id="260" r:id="rId5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图1" id="{3B6FF4C4-40E2-49EB-9C26-632F7DD6B399}">
          <p14:sldIdLst>
            <p14:sldId id="257"/>
          </p14:sldIdLst>
        </p14:section>
        <p14:section name="图3" id="{23ECEA24-2DC2-428D-961F-C9278ECF0D8D}">
          <p14:sldIdLst>
            <p14:sldId id="259"/>
          </p14:sldIdLst>
        </p14:section>
        <p14:section name="图7" id="{D13865AF-AC91-41BF-8402-525C4D0E0753}">
          <p14:sldIdLst>
            <p14:sldId id="258"/>
          </p14:sldIdLst>
        </p14:section>
        <p14:section name="图8" id="{9C8943F2-D547-405D-9B00-6A8146F12CC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620B"/>
    <a:srgbClr val="2A6927"/>
    <a:srgbClr val="9BC583"/>
    <a:srgbClr val="D2E4C7"/>
    <a:srgbClr val="D3CECE"/>
    <a:srgbClr val="FAFBFA"/>
    <a:srgbClr val="F9FBF9"/>
    <a:srgbClr val="631716"/>
    <a:srgbClr val="AB833F"/>
    <a:srgbClr val="A638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13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AE2B9-E036-466E-A0BC-01CD3408EF8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143000"/>
            <a:ext cx="4181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9B940-0FF8-4AB5-8B33-45465243C7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19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38263" y="1143000"/>
            <a:ext cx="4181475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B940-0FF8-4AB5-8B33-45465243C7C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626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B940-0FF8-4AB5-8B33-45465243C7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73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4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91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07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4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26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5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68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69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50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54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9E9A7-6E95-49FE-9649-C1EDE319F31A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928C9-1F69-4217-A82A-4F33FFD5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20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17" Type="http://schemas.openxmlformats.org/officeDocument/2006/relationships/image" Target="../media/image20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Relationship Id="rId1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2590271-7DA8-6AF7-F288-C42FF8BBEADC}"/>
              </a:ext>
            </a:extLst>
          </p:cNvPr>
          <p:cNvSpPr/>
          <p:nvPr/>
        </p:nvSpPr>
        <p:spPr>
          <a:xfrm>
            <a:off x="2338698" y="6384529"/>
            <a:ext cx="9667128" cy="2440157"/>
          </a:xfrm>
          <a:prstGeom prst="rect">
            <a:avLst/>
          </a:prstGeom>
          <a:solidFill>
            <a:srgbClr val="F6FAF3"/>
          </a:solidFill>
          <a:ln>
            <a:solidFill>
              <a:srgbClr val="CEE1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BD6F8A-8719-2A2E-0753-5F8CFFB580DD}"/>
              </a:ext>
            </a:extLst>
          </p:cNvPr>
          <p:cNvSpPr/>
          <p:nvPr/>
        </p:nvSpPr>
        <p:spPr>
          <a:xfrm>
            <a:off x="275776" y="280136"/>
            <a:ext cx="1886755" cy="1615440"/>
          </a:xfrm>
          <a:prstGeom prst="rect">
            <a:avLst/>
          </a:prstGeom>
          <a:solidFill>
            <a:srgbClr val="E2DBF9"/>
          </a:solidFill>
          <a:ln>
            <a:solidFill>
              <a:srgbClr val="997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输入：</a:t>
            </a:r>
            <a:endParaRPr lang="en-US" altLang="zh-CN" sz="1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非结构化军事</a:t>
            </a:r>
            <a:endParaRPr lang="en-US" altLang="zh-CN" sz="1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新闻文档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3709EC-B39C-0F11-4758-9AE764DD50CE}"/>
              </a:ext>
            </a:extLst>
          </p:cNvPr>
          <p:cNvSpPr/>
          <p:nvPr/>
        </p:nvSpPr>
        <p:spPr>
          <a:xfrm>
            <a:off x="275776" y="2129317"/>
            <a:ext cx="1886755" cy="1838526"/>
          </a:xfrm>
          <a:prstGeom prst="rect">
            <a:avLst/>
          </a:prstGeom>
          <a:solidFill>
            <a:srgbClr val="E8F2FC"/>
          </a:solidFill>
          <a:ln>
            <a:solidFill>
              <a:srgbClr val="A7BB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现有方法局限性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487A1A5-39B3-5D67-A218-6BEF98874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228382"/>
              </p:ext>
            </p:extLst>
          </p:nvPr>
        </p:nvGraphicFramePr>
        <p:xfrm>
          <a:off x="2388984" y="262156"/>
          <a:ext cx="8010706" cy="1615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9301">
                  <a:extLst>
                    <a:ext uri="{9D8B030D-6E8A-4147-A177-3AD203B41FA5}">
                      <a16:colId xmlns:a16="http://schemas.microsoft.com/office/drawing/2014/main" val="1225679346"/>
                    </a:ext>
                  </a:extLst>
                </a:gridCol>
                <a:gridCol w="6831405">
                  <a:extLst>
                    <a:ext uri="{9D8B030D-6E8A-4147-A177-3AD203B41FA5}">
                      <a16:colId xmlns:a16="http://schemas.microsoft.com/office/drawing/2014/main" val="3707427562"/>
                    </a:ext>
                  </a:extLst>
                </a:gridCol>
              </a:tblGrid>
              <a:tr h="3197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100" kern="100" dirty="0">
                          <a:effectLst/>
                        </a:rPr>
                        <a:t>文档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75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100" kern="100" dirty="0">
                          <a:effectLst/>
                        </a:rPr>
                        <a:t>文本内容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75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936274"/>
                  </a:ext>
                </a:extLst>
              </a:tr>
              <a:tr h="3197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Doc 1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99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highlight>
                            <a:srgbClr val="F48E4C"/>
                          </a:highlight>
                        </a:rPr>
                        <a:t>During the operation</a:t>
                      </a:r>
                      <a:r>
                        <a:rPr lang="en-US" altLang="zh-CN" sz="1100" b="0" dirty="0"/>
                        <a:t>, the </a:t>
                      </a:r>
                      <a:r>
                        <a:rPr lang="en-US" altLang="zh-CN" sz="1100" b="0" dirty="0">
                          <a:highlight>
                            <a:srgbClr val="98CCF9"/>
                          </a:highlight>
                        </a:rPr>
                        <a:t>Type A ICBM</a:t>
                      </a:r>
                      <a:r>
                        <a:rPr lang="en-US" altLang="zh-CN" sz="1100" b="0" dirty="0"/>
                        <a:t> was </a:t>
                      </a:r>
                      <a:r>
                        <a:rPr lang="en-US" altLang="zh-CN" sz="1100" b="0" dirty="0">
                          <a:highlight>
                            <a:srgbClr val="FFFF00"/>
                          </a:highlight>
                        </a:rPr>
                        <a:t>launched</a:t>
                      </a:r>
                      <a:r>
                        <a:rPr lang="en-US" altLang="zh-CN" sz="1100" b="0" dirty="0"/>
                        <a:t> from </a:t>
                      </a:r>
                      <a:r>
                        <a:rPr lang="en-US" altLang="zh-CN" sz="1100" b="0" dirty="0">
                          <a:highlight>
                            <a:srgbClr val="AED57C"/>
                          </a:highlight>
                        </a:rPr>
                        <a:t>Base B</a:t>
                      </a:r>
                      <a:r>
                        <a:rPr lang="en-US" altLang="zh-CN" sz="1100" b="0" dirty="0"/>
                        <a:t> toward the </a:t>
                      </a:r>
                      <a:r>
                        <a:rPr lang="en-US" altLang="zh-CN" sz="1100" b="0" dirty="0">
                          <a:highlight>
                            <a:srgbClr val="AED57C"/>
                          </a:highlight>
                        </a:rPr>
                        <a:t>Eastern Maritime Test Corridor</a:t>
                      </a:r>
                      <a:r>
                        <a:rPr lang="en-US" altLang="zh-CN" sz="1100" b="0" dirty="0"/>
                        <a:t>.</a:t>
                      </a:r>
                      <a:endParaRPr lang="zh-CN" altLang="zh-CN" sz="1100" b="0" kern="100" dirty="0"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18674"/>
                  </a:ext>
                </a:extLst>
              </a:tr>
              <a:tr h="4873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Doc 2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48E4C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Earlier this week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the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AED57C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Ministry of National Defense of Country M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announced a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test operation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involving the new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98CCF9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A ICBM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zh-CN" sz="11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19011"/>
                  </a:ext>
                </a:extLst>
              </a:tr>
              <a:tr h="4873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</a:rPr>
                        <a:t>Doc 3</a:t>
                      </a:r>
                      <a:endParaRPr lang="zh-CN" sz="11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dirty="0"/>
                        <a:t>According to intelligence sources, </a:t>
                      </a:r>
                      <a:r>
                        <a:rPr lang="en-US" altLang="zh-CN" sz="1100" b="0" dirty="0">
                          <a:highlight>
                            <a:srgbClr val="98CCF9"/>
                          </a:highlight>
                        </a:rPr>
                        <a:t>the missile</a:t>
                      </a:r>
                      <a:r>
                        <a:rPr lang="en-US" altLang="zh-CN" sz="1100" b="0" dirty="0"/>
                        <a:t> </a:t>
                      </a:r>
                      <a:r>
                        <a:rPr lang="en-US" altLang="zh-CN" sz="1100" b="0" dirty="0">
                          <a:highlight>
                            <a:srgbClr val="F48E4C"/>
                          </a:highlight>
                        </a:rPr>
                        <a:t>eventually</a:t>
                      </a:r>
                      <a:r>
                        <a:rPr lang="en-US" altLang="zh-CN" sz="1100" b="0" dirty="0"/>
                        <a:t> </a:t>
                      </a:r>
                      <a:r>
                        <a:rPr lang="en-US" altLang="zh-CN" sz="1100" b="0" dirty="0">
                          <a:highlight>
                            <a:srgbClr val="FFFF00"/>
                          </a:highlight>
                        </a:rPr>
                        <a:t>impacted</a:t>
                      </a:r>
                      <a:r>
                        <a:rPr lang="en-US" altLang="zh-CN" sz="1100" b="0" dirty="0"/>
                        <a:t> within </a:t>
                      </a:r>
                      <a:r>
                        <a:rPr lang="en-US" altLang="zh-CN" sz="1100" b="0" dirty="0">
                          <a:highlight>
                            <a:srgbClr val="AED57C"/>
                          </a:highlight>
                        </a:rPr>
                        <a:t>Test Zone C</a:t>
                      </a:r>
                      <a:r>
                        <a:rPr lang="en-US" altLang="zh-CN" sz="1100" b="0" dirty="0"/>
                        <a:t>, demonstrating extended-range capability.</a:t>
                      </a:r>
                      <a:endParaRPr lang="zh-CN" sz="11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B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017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DD3DE6F-6609-EC23-EE18-16BEA8AAC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10163"/>
              </p:ext>
            </p:extLst>
          </p:nvPr>
        </p:nvGraphicFramePr>
        <p:xfrm>
          <a:off x="2388984" y="2117833"/>
          <a:ext cx="7033983" cy="18014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8883">
                  <a:extLst>
                    <a:ext uri="{9D8B030D-6E8A-4147-A177-3AD203B41FA5}">
                      <a16:colId xmlns:a16="http://schemas.microsoft.com/office/drawing/2014/main" val="1756135975"/>
                    </a:ext>
                  </a:extLst>
                </a:gridCol>
                <a:gridCol w="1543267">
                  <a:extLst>
                    <a:ext uri="{9D8B030D-6E8A-4147-A177-3AD203B41FA5}">
                      <a16:colId xmlns:a16="http://schemas.microsoft.com/office/drawing/2014/main" val="2886528836"/>
                    </a:ext>
                  </a:extLst>
                </a:gridCol>
                <a:gridCol w="1390755">
                  <a:extLst>
                    <a:ext uri="{9D8B030D-6E8A-4147-A177-3AD203B41FA5}">
                      <a16:colId xmlns:a16="http://schemas.microsoft.com/office/drawing/2014/main" val="2229483164"/>
                    </a:ext>
                  </a:extLst>
                </a:gridCol>
                <a:gridCol w="1672809">
                  <a:extLst>
                    <a:ext uri="{9D8B030D-6E8A-4147-A177-3AD203B41FA5}">
                      <a16:colId xmlns:a16="http://schemas.microsoft.com/office/drawing/2014/main" val="1886868738"/>
                    </a:ext>
                  </a:extLst>
                </a:gridCol>
                <a:gridCol w="1428269">
                  <a:extLst>
                    <a:ext uri="{9D8B030D-6E8A-4147-A177-3AD203B41FA5}">
                      <a16:colId xmlns:a16="http://schemas.microsoft.com/office/drawing/2014/main" val="2871119729"/>
                    </a:ext>
                  </a:extLst>
                </a:gridCol>
              </a:tblGrid>
              <a:tr h="356734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现有方法：将任务拆分为多个独立模块，缺乏统一的时空建模与约束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C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611412"/>
                  </a:ext>
                </a:extLst>
              </a:tr>
              <a:tr h="2302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</a:rPr>
                        <a:t>模块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</a:rPr>
                        <a:t>建模粒度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</a:rPr>
                        <a:t>主要方法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</a:rPr>
                        <a:t>局限性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</a:rPr>
                        <a:t>示意图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34930"/>
                  </a:ext>
                </a:extLst>
              </a:tr>
              <a:tr h="4134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0" kern="100" dirty="0">
                          <a:solidFill>
                            <a:schemeClr val="tx1"/>
                          </a:solidFill>
                          <a:effectLst/>
                        </a:rPr>
                        <a:t>事件抽取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仅识别单个事件及论元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序列标注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无法链接跨文档事件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332967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0" kern="100" dirty="0">
                          <a:solidFill>
                            <a:schemeClr val="tx1"/>
                          </a:solidFill>
                          <a:effectLst/>
                        </a:rPr>
                        <a:t>时序关系抽取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跨文档对齐困难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事件对分类</a:t>
                      </a:r>
                      <a:r>
                        <a:rPr lang="en-US" sz="1050" kern="100" dirty="0">
                          <a:effectLst/>
                        </a:rPr>
                        <a:t> / </a:t>
                      </a:r>
                      <a:r>
                        <a:rPr lang="zh-CN" sz="1050" kern="100" dirty="0">
                          <a:effectLst/>
                        </a:rPr>
                        <a:t>排序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时序隐式，顺序不稳定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430333"/>
                  </a:ext>
                </a:extLst>
              </a:tr>
              <a:tr h="3324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b="0" kern="100" dirty="0">
                          <a:solidFill>
                            <a:schemeClr val="tx1"/>
                          </a:solidFill>
                          <a:effectLst/>
                        </a:rPr>
                        <a:t>地点论元抽取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>
                          <a:effectLst/>
                        </a:rPr>
                        <a:t>孤立地点标签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>
                          <a:effectLst/>
                        </a:rPr>
                        <a:t>序列标注</a:t>
                      </a:r>
                      <a:r>
                        <a:rPr lang="en-US" sz="1050" kern="100">
                          <a:effectLst/>
                        </a:rPr>
                        <a:t> / </a:t>
                      </a:r>
                      <a:r>
                        <a:rPr lang="zh-CN" sz="1050" kern="100">
                          <a:effectLst/>
                        </a:rPr>
                        <a:t>分类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缺乏路径语义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F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042453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BD031D4-CD44-0E68-58FC-750700583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33037"/>
              </p:ext>
            </p:extLst>
          </p:nvPr>
        </p:nvGraphicFramePr>
        <p:xfrm>
          <a:off x="10514489" y="280136"/>
          <a:ext cx="1429556" cy="1558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556">
                  <a:extLst>
                    <a:ext uri="{9D8B030D-6E8A-4147-A177-3AD203B41FA5}">
                      <a16:colId xmlns:a16="http://schemas.microsoft.com/office/drawing/2014/main" val="314776809"/>
                    </a:ext>
                  </a:extLst>
                </a:gridCol>
              </a:tblGrid>
              <a:tr h="280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图例（语义标注）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92974"/>
                  </a:ext>
                </a:extLst>
              </a:tr>
              <a:tr h="327446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050" dirty="0">
                          <a:highlight>
                            <a:srgbClr val="FFFF00"/>
                          </a:highlight>
                        </a:rPr>
                        <a:t>       </a:t>
                      </a:r>
                      <a:r>
                        <a:rPr lang="zh-CN" altLang="en-US" sz="1050" dirty="0"/>
                        <a:t>  触发词</a:t>
                      </a:r>
                      <a:endParaRPr lang="zh-CN" altLang="en-US" sz="14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685057"/>
                  </a:ext>
                </a:extLst>
              </a:tr>
              <a:tr h="327446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050" dirty="0">
                          <a:highlight>
                            <a:srgbClr val="98CCF9"/>
                          </a:highlight>
                        </a:rPr>
                        <a:t>       </a:t>
                      </a:r>
                      <a:r>
                        <a:rPr lang="zh-CN" altLang="en-US" sz="1050" dirty="0"/>
                        <a:t>  实体</a:t>
                      </a:r>
                      <a:endParaRPr lang="zh-CN" altLang="en-US" sz="1400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890190"/>
                  </a:ext>
                </a:extLst>
              </a:tr>
              <a:tr h="327446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050" dirty="0">
                          <a:highlight>
                            <a:srgbClr val="AED57C"/>
                          </a:highlight>
                        </a:rPr>
                        <a:t>       </a:t>
                      </a:r>
                      <a:r>
                        <a:rPr lang="zh-CN" altLang="en-US" sz="1050" dirty="0"/>
                        <a:t>  地点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432495"/>
                  </a:ext>
                </a:extLst>
              </a:tr>
              <a:tr h="295586">
                <a:tc>
                  <a:txBody>
                    <a:bodyPr/>
                    <a:lstStyle/>
                    <a:p>
                      <a:pPr marL="252000" algn="l" eaLnBrk="0" hangingPunct="0"/>
                      <a:r>
                        <a:rPr lang="zh-CN" altLang="en-US" sz="1050" dirty="0">
                          <a:highlight>
                            <a:srgbClr val="F48E4C"/>
                          </a:highlight>
                        </a:rPr>
                        <a:t>       </a:t>
                      </a:r>
                      <a:r>
                        <a:rPr lang="zh-CN" altLang="en-US" sz="1050" dirty="0"/>
                        <a:t>  时间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421853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28CB89D-A7CA-E94E-A594-02C139326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906192"/>
              </p:ext>
            </p:extLst>
          </p:nvPr>
        </p:nvGraphicFramePr>
        <p:xfrm>
          <a:off x="9672035" y="2117832"/>
          <a:ext cx="2272010" cy="174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010">
                  <a:extLst>
                    <a:ext uri="{9D8B030D-6E8A-4147-A177-3AD203B41FA5}">
                      <a16:colId xmlns:a16="http://schemas.microsoft.com/office/drawing/2014/main" val="444511873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rgbClr val="BE7474"/>
                          </a:solidFill>
                        </a:rPr>
                        <a:t>结果：事件链不完整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511905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altLang="en-US" sz="1200" dirty="0"/>
                        <a:t>❌ 事件对齐困难，链条断裂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323822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altLang="en-US" sz="1200" dirty="0"/>
                        <a:t>❌ 空间路径语义缺失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225409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lang="zh-CN" altLang="en-US" sz="1200" dirty="0"/>
                        <a:t>❌ 长论元边界识别不准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476489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C455C779-4FF4-9C10-60AB-D1F2071CF594}"/>
              </a:ext>
            </a:extLst>
          </p:cNvPr>
          <p:cNvSpPr/>
          <p:nvPr/>
        </p:nvSpPr>
        <p:spPr>
          <a:xfrm>
            <a:off x="275776" y="4160681"/>
            <a:ext cx="1886755" cy="2022158"/>
          </a:xfrm>
          <a:prstGeom prst="rect">
            <a:avLst/>
          </a:prstGeom>
          <a:solidFill>
            <a:srgbClr val="FFF6EE"/>
          </a:solidFill>
          <a:ln>
            <a:solidFill>
              <a:srgbClr val="F9D7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核心挑战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625730-04E2-9B5E-3F31-DC06C8B32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73859"/>
              </p:ext>
            </p:extLst>
          </p:nvPr>
        </p:nvGraphicFramePr>
        <p:xfrm>
          <a:off x="2388983" y="4142700"/>
          <a:ext cx="9607688" cy="2027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8537">
                  <a:extLst>
                    <a:ext uri="{9D8B030D-6E8A-4147-A177-3AD203B41FA5}">
                      <a16:colId xmlns:a16="http://schemas.microsoft.com/office/drawing/2014/main" val="4120125854"/>
                    </a:ext>
                  </a:extLst>
                </a:gridCol>
                <a:gridCol w="4136588">
                  <a:extLst>
                    <a:ext uri="{9D8B030D-6E8A-4147-A177-3AD203B41FA5}">
                      <a16:colId xmlns:a16="http://schemas.microsoft.com/office/drawing/2014/main" val="1563903695"/>
                    </a:ext>
                  </a:extLst>
                </a:gridCol>
                <a:gridCol w="3202563">
                  <a:extLst>
                    <a:ext uri="{9D8B030D-6E8A-4147-A177-3AD203B41FA5}">
                      <a16:colId xmlns:a16="http://schemas.microsoft.com/office/drawing/2014/main" val="2419940124"/>
                    </a:ext>
                  </a:extLst>
                </a:gridCol>
              </a:tblGrid>
              <a:tr h="290542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军事新闻的特点导致现有方法难以胜任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758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solidFill>
                      <a:srgbClr val="F59758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solidFill>
                      <a:srgbClr val="F597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169488"/>
                  </a:ext>
                </a:extLst>
              </a:tr>
              <a:tr h="2806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0" dirty="0">
                          <a:solidFill>
                            <a:schemeClr val="tx1"/>
                          </a:solidFill>
                          <a:effectLst/>
                        </a:rPr>
                        <a:t>挑战维度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0" dirty="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0" dirty="0">
                          <a:solidFill>
                            <a:schemeClr val="tx1"/>
                          </a:solidFill>
                          <a:effectLst/>
                        </a:rPr>
                        <a:t>示例</a:t>
                      </a:r>
                      <a:r>
                        <a:rPr lang="en-US" sz="1100" b="1" kern="0" dirty="0">
                          <a:solidFill>
                            <a:schemeClr val="tx1"/>
                          </a:solidFill>
                          <a:effectLst/>
                        </a:rPr>
                        <a:t> / </a:t>
                      </a:r>
                      <a:r>
                        <a:rPr lang="zh-CN" sz="1100" b="1" kern="0" dirty="0">
                          <a:solidFill>
                            <a:schemeClr val="tx1"/>
                          </a:solidFill>
                          <a:effectLst/>
                        </a:rPr>
                        <a:t>特征</a:t>
                      </a:r>
                      <a:endParaRPr lang="zh-CN" sz="105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319765"/>
                  </a:ext>
                </a:extLst>
              </a:tr>
              <a:tr h="2990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        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跨文档时序隐式交织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同一目标事件分散在多个文档中，时间顺序隐式，对齐困难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事件在不同时间、不同来源中描述，顺序需推理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027475"/>
                  </a:ext>
                </a:extLst>
              </a:tr>
              <a:tr h="2990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        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空间路径连续演化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目标移动具有</a:t>
                      </a:r>
                      <a:r>
                        <a:rPr 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 “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起点</a:t>
                      </a:r>
                      <a:r>
                        <a:rPr 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→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途经</a:t>
                      </a:r>
                      <a:r>
                        <a:rPr 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→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终点</a:t>
                      </a:r>
                      <a:r>
                        <a:rPr 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” 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的路径结构，而非孤立地点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军事目标从</a:t>
                      </a:r>
                      <a:r>
                        <a:rPr 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 A 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到</a:t>
                      </a:r>
                      <a:r>
                        <a:rPr 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 B 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再到</a:t>
                      </a:r>
                      <a:r>
                        <a:rPr 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 C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，形成连续路径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2471"/>
                  </a:ext>
                </a:extLst>
              </a:tr>
              <a:tr h="27681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        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长论元与跨句表达普遍</a:t>
                      </a:r>
                      <a:r>
                        <a:rPr lang="zh-CN" altLang="en-US" sz="1100" b="0" kern="0" dirty="0">
                          <a:solidFill>
                            <a:schemeClr val="tx1"/>
                          </a:solidFill>
                          <a:effectLst/>
                        </a:rPr>
                        <a:t>存在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实体描述长、修饰多，边界模糊，跨句依赖强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复杂修饰结构、跨句指代、嵌套表达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820880"/>
                  </a:ext>
                </a:extLst>
              </a:tr>
              <a:tr h="2990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        </a:t>
                      </a: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任务差异大，建模粒度不一致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边界识别、路径建模、角色分类需求不同，共享参数难以兼顾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0" kern="0" dirty="0">
                          <a:solidFill>
                            <a:schemeClr val="tx1"/>
                          </a:solidFill>
                          <a:effectLst/>
                        </a:rPr>
                        <a:t>高频简单角色与低频复杂论元差异显著</a:t>
                      </a:r>
                      <a:endParaRPr lang="zh-CN" sz="1050" b="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294388"/>
                  </a:ext>
                </a:extLst>
              </a:tr>
            </a:tbl>
          </a:graphicData>
        </a:graphic>
      </p:graphicFrame>
      <p:pic>
        <p:nvPicPr>
          <p:cNvPr id="10" name="图形 7" descr="时钟 纯色填充">
            <a:extLst>
              <a:ext uri="{FF2B5EF4-FFF2-40B4-BE49-F238E27FC236}">
                <a16:creationId xmlns:a16="http://schemas.microsoft.com/office/drawing/2014/main" id="{C834F00B-533C-3E03-25C6-D78449D13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8301" y="4869683"/>
            <a:ext cx="244475" cy="244475"/>
          </a:xfrm>
          <a:prstGeom prst="rect">
            <a:avLst/>
          </a:prstGeom>
        </p:spPr>
      </p:pic>
      <p:pic>
        <p:nvPicPr>
          <p:cNvPr id="11" name="图形 1" descr="标记 纯色填充">
            <a:extLst>
              <a:ext uri="{FF2B5EF4-FFF2-40B4-BE49-F238E27FC236}">
                <a16:creationId xmlns:a16="http://schemas.microsoft.com/office/drawing/2014/main" id="{64916BFE-48B2-3BB1-CE07-429F89B10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406339" y="5223841"/>
            <a:ext cx="244475" cy="244475"/>
          </a:xfrm>
          <a:prstGeom prst="rect">
            <a:avLst/>
          </a:prstGeom>
        </p:spPr>
      </p:pic>
      <p:pic>
        <p:nvPicPr>
          <p:cNvPr id="13" name="图形 2" descr="文档 纯色填充">
            <a:extLst>
              <a:ext uri="{FF2B5EF4-FFF2-40B4-BE49-F238E27FC236}">
                <a16:creationId xmlns:a16="http://schemas.microsoft.com/office/drawing/2014/main" id="{0D85DD3E-5D24-6BA2-EF6A-B3F1FC188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6332" y="5545806"/>
            <a:ext cx="244475" cy="244475"/>
          </a:xfrm>
          <a:prstGeom prst="rect">
            <a:avLst/>
          </a:prstGeom>
        </p:spPr>
      </p:pic>
      <p:pic>
        <p:nvPicPr>
          <p:cNvPr id="15" name="图形 3" descr="拼图 纯色填充">
            <a:extLst>
              <a:ext uri="{FF2B5EF4-FFF2-40B4-BE49-F238E27FC236}">
                <a16:creationId xmlns:a16="http://schemas.microsoft.com/office/drawing/2014/main" id="{C3C8C82C-10FE-1A98-F3F2-51AC157BC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2777" y="5867787"/>
            <a:ext cx="244475" cy="2444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DFE779F-79B8-8F4D-F07D-A3D156BA6450}"/>
              </a:ext>
            </a:extLst>
          </p:cNvPr>
          <p:cNvSpPr/>
          <p:nvPr/>
        </p:nvSpPr>
        <p:spPr>
          <a:xfrm>
            <a:off x="275776" y="6468953"/>
            <a:ext cx="1886755" cy="2355733"/>
          </a:xfrm>
          <a:prstGeom prst="rect">
            <a:avLst/>
          </a:prstGeom>
          <a:solidFill>
            <a:srgbClr val="F1F7EE"/>
          </a:solidFill>
          <a:ln>
            <a:solidFill>
              <a:srgbClr val="CEE1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研究目标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F240DB9-B317-6B80-0646-A548074C5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188465"/>
              </p:ext>
            </p:extLst>
          </p:nvPr>
        </p:nvGraphicFramePr>
        <p:xfrm>
          <a:off x="2406332" y="6764708"/>
          <a:ext cx="2324636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636">
                  <a:extLst>
                    <a:ext uri="{9D8B030D-6E8A-4147-A177-3AD203B41FA5}">
                      <a16:colId xmlns:a16="http://schemas.microsoft.com/office/drawing/2014/main" val="444511873"/>
                    </a:ext>
                  </a:extLst>
                </a:gridCol>
              </a:tblGrid>
              <a:tr h="425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solidFill>
                            <a:schemeClr val="bg1"/>
                          </a:solidFill>
                        </a:rPr>
                        <a:t>目标要求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AC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511905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zh-CN" altLang="en-US" sz="1200" dirty="0"/>
                        <a:t>✅ 跨文档事件对齐一致</a:t>
                      </a:r>
                      <a:endParaRPr lang="zh-CN" altLang="en-US" sz="1150" dirty="0"/>
                    </a:p>
                  </a:txBody>
                  <a:tcPr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323822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zh-CN" altLang="en-US" sz="1200" dirty="0"/>
                        <a:t>✅ 时间顺序明确、连贯</a:t>
                      </a:r>
                      <a:endParaRPr lang="zh-CN" altLang="en-US" sz="1150" dirty="0"/>
                    </a:p>
                  </a:txBody>
                  <a:tcPr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225409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zh-CN" altLang="en-US" sz="1200" dirty="0"/>
                        <a:t>✅ 空间路径完整、可追溯</a:t>
                      </a:r>
                      <a:endParaRPr lang="zh-CN" altLang="en-US" sz="1150" dirty="0"/>
                    </a:p>
                  </a:txBody>
                  <a:tcPr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476489"/>
                  </a:ext>
                </a:extLst>
              </a:tr>
              <a:tr h="377550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zh-CN" altLang="en-US" sz="1200" dirty="0"/>
                        <a:t>✅ 长论元边界准确、语义完整</a:t>
                      </a:r>
                      <a:endParaRPr lang="zh-CN" altLang="en-US" sz="1150" dirty="0"/>
                    </a:p>
                  </a:txBody>
                  <a:tcPr anchor="ctr">
                    <a:lnL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AC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339950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4B91D73-7F9C-6571-7FA8-3B4CE6CEB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722877"/>
              </p:ext>
            </p:extLst>
          </p:nvPr>
        </p:nvGraphicFramePr>
        <p:xfrm>
          <a:off x="4911890" y="6764709"/>
          <a:ext cx="7004335" cy="19726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4128">
                  <a:extLst>
                    <a:ext uri="{9D8B030D-6E8A-4147-A177-3AD203B41FA5}">
                      <a16:colId xmlns:a16="http://schemas.microsoft.com/office/drawing/2014/main" val="2659239971"/>
                    </a:ext>
                  </a:extLst>
                </a:gridCol>
                <a:gridCol w="722973">
                  <a:extLst>
                    <a:ext uri="{9D8B030D-6E8A-4147-A177-3AD203B41FA5}">
                      <a16:colId xmlns:a16="http://schemas.microsoft.com/office/drawing/2014/main" val="569346378"/>
                    </a:ext>
                  </a:extLst>
                </a:gridCol>
                <a:gridCol w="761233">
                  <a:extLst>
                    <a:ext uri="{9D8B030D-6E8A-4147-A177-3AD203B41FA5}">
                      <a16:colId xmlns:a16="http://schemas.microsoft.com/office/drawing/2014/main" val="3957968122"/>
                    </a:ext>
                  </a:extLst>
                </a:gridCol>
                <a:gridCol w="1656586">
                  <a:extLst>
                    <a:ext uri="{9D8B030D-6E8A-4147-A177-3AD203B41FA5}">
                      <a16:colId xmlns:a16="http://schemas.microsoft.com/office/drawing/2014/main" val="440928545"/>
                    </a:ext>
                  </a:extLst>
                </a:gridCol>
                <a:gridCol w="1099805">
                  <a:extLst>
                    <a:ext uri="{9D8B030D-6E8A-4147-A177-3AD203B41FA5}">
                      <a16:colId xmlns:a16="http://schemas.microsoft.com/office/drawing/2014/main" val="1862566331"/>
                    </a:ext>
                  </a:extLst>
                </a:gridCol>
                <a:gridCol w="1099805">
                  <a:extLst>
                    <a:ext uri="{9D8B030D-6E8A-4147-A177-3AD203B41FA5}">
                      <a16:colId xmlns:a16="http://schemas.microsoft.com/office/drawing/2014/main" val="2441366345"/>
                    </a:ext>
                  </a:extLst>
                </a:gridCol>
                <a:gridCol w="1099805">
                  <a:extLst>
                    <a:ext uri="{9D8B030D-6E8A-4147-A177-3AD203B41FA5}">
                      <a16:colId xmlns:a16="http://schemas.microsoft.com/office/drawing/2014/main" val="2696271535"/>
                    </a:ext>
                  </a:extLst>
                </a:gridCol>
              </a:tblGrid>
              <a:tr h="33079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Event ID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Trigger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Time</a:t>
                      </a:r>
                      <a:endParaRPr lang="zh-CN" sz="1100" kern="10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Argument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Previous Event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Event Chain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Spatial Path</a:t>
                      </a:r>
                      <a:endParaRPr lang="zh-CN" sz="11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231036"/>
                  </a:ext>
                </a:extLst>
              </a:tr>
              <a:tr h="56141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E1</a:t>
                      </a:r>
                      <a:endParaRPr lang="zh-CN" sz="10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launched</a:t>
                      </a:r>
                      <a:endParaRPr lang="zh-CN" sz="11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During the operation</a:t>
                      </a:r>
                      <a:endParaRPr lang="zh-CN" sz="11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Type A ICBM</a:t>
                      </a:r>
                      <a:endParaRPr lang="zh-CN" sz="11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E2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E2 </a:t>
                      </a:r>
                      <a:r>
                        <a:rPr lang="zh-CN" alt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E1 </a:t>
                      </a:r>
                      <a:r>
                        <a:rPr lang="zh-CN" alt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E3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dk1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Base B → Eastern Maritime Test Corridor</a:t>
                      </a:r>
                      <a:endParaRPr lang="zh-CN" altLang="en-US" sz="1000" kern="100" dirty="0">
                        <a:solidFill>
                          <a:schemeClr val="dk1"/>
                        </a:solidFill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927"/>
                  </a:ext>
                </a:extLst>
              </a:tr>
              <a:tr h="41764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E2</a:t>
                      </a:r>
                      <a:endParaRPr lang="zh-CN" sz="10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test operation 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Earlier this week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Ministry of National Defense of Country M, Type A ICBM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--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dk1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Country M</a:t>
                      </a:r>
                      <a:endParaRPr lang="zh-CN" altLang="en-US" sz="1000" kern="100" dirty="0">
                        <a:solidFill>
                          <a:schemeClr val="dk1"/>
                        </a:solidFill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44229"/>
                  </a:ext>
                </a:extLst>
              </a:tr>
              <a:tr h="6628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rgbClr val="4D7237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E3</a:t>
                      </a:r>
                      <a:endParaRPr lang="zh-CN" sz="1000" kern="100" dirty="0">
                        <a:solidFill>
                          <a:srgbClr val="4D7237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impacted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eventually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Type A ICBM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kern="100" dirty="0"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E1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199967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kern="100" dirty="0">
                          <a:solidFill>
                            <a:schemeClr val="dk1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Times New Roman" panose="02020603050405020304" pitchFamily="18" charset="0"/>
                        </a:rPr>
                        <a:t>Base B → Eastern Maritime Test Corridor → Test Zone C</a:t>
                      </a:r>
                      <a:endParaRPr lang="zh-CN" altLang="en-US" sz="1000" kern="100" dirty="0">
                        <a:solidFill>
                          <a:schemeClr val="dk1"/>
                        </a:solidFill>
                        <a:effectLst/>
                        <a:latin typeface="等线" panose="02010600030101010101" pitchFamily="2" charset="-122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D5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31048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14DE3C1B-7D02-1177-11A9-A9D8BB351D3C}"/>
              </a:ext>
            </a:extLst>
          </p:cNvPr>
          <p:cNvSpPr txBox="1"/>
          <p:nvPr/>
        </p:nvSpPr>
        <p:spPr>
          <a:xfrm>
            <a:off x="5566433" y="6460690"/>
            <a:ext cx="480422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b="1" dirty="0">
                <a:solidFill>
                  <a:srgbClr val="4D7237"/>
                </a:solidFill>
              </a:rPr>
              <a:t>研究目标：构建时空一致的结构化事件链</a:t>
            </a: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6BCD4BC-0ECE-6386-4999-8CC63F484406}"/>
              </a:ext>
            </a:extLst>
          </p:cNvPr>
          <p:cNvSpPr/>
          <p:nvPr/>
        </p:nvSpPr>
        <p:spPr>
          <a:xfrm>
            <a:off x="9423658" y="2760207"/>
            <a:ext cx="231922" cy="66291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72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0E335B42-1FEA-E2CB-B8A0-30562C59EFD1}"/>
              </a:ext>
            </a:extLst>
          </p:cNvPr>
          <p:cNvSpPr/>
          <p:nvPr/>
        </p:nvSpPr>
        <p:spPr>
          <a:xfrm rot="5400000">
            <a:off x="984709" y="1729838"/>
            <a:ext cx="468888" cy="51284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73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3416628A-9932-FEE5-1286-19433084C6FA}"/>
              </a:ext>
            </a:extLst>
          </p:cNvPr>
          <p:cNvSpPr/>
          <p:nvPr/>
        </p:nvSpPr>
        <p:spPr>
          <a:xfrm rot="5400000">
            <a:off x="984709" y="3761203"/>
            <a:ext cx="468888" cy="51284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73000"/>
                  <a:lumMod val="8000"/>
                  <a:lumOff val="92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EF0C9C45-3A2B-C122-11B8-062F8CE4BCB8}"/>
              </a:ext>
            </a:extLst>
          </p:cNvPr>
          <p:cNvSpPr/>
          <p:nvPr/>
        </p:nvSpPr>
        <p:spPr>
          <a:xfrm rot="5400000">
            <a:off x="984709" y="6069476"/>
            <a:ext cx="468888" cy="51284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73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662DC753-3A9E-E210-A67A-CD44706FACF5}"/>
              </a:ext>
            </a:extLst>
          </p:cNvPr>
          <p:cNvSpPr/>
          <p:nvPr/>
        </p:nvSpPr>
        <p:spPr>
          <a:xfrm>
            <a:off x="8246933" y="2852055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821D35-4CB0-F8B2-B5B1-756AF2A57272}"/>
              </a:ext>
            </a:extLst>
          </p:cNvPr>
          <p:cNvSpPr/>
          <p:nvPr/>
        </p:nvSpPr>
        <p:spPr>
          <a:xfrm>
            <a:off x="8055435" y="3031673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72645E0D-0696-2FBC-A675-18A56D3DA601}"/>
              </a:ext>
            </a:extLst>
          </p:cNvPr>
          <p:cNvSpPr/>
          <p:nvPr/>
        </p:nvSpPr>
        <p:spPr>
          <a:xfrm>
            <a:off x="8583883" y="2846612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88726676-A1D9-BD5C-8FBD-6B4DF572C5C2}"/>
              </a:ext>
            </a:extLst>
          </p:cNvPr>
          <p:cNvSpPr/>
          <p:nvPr/>
        </p:nvSpPr>
        <p:spPr>
          <a:xfrm>
            <a:off x="8902866" y="2852054"/>
            <a:ext cx="97971" cy="97971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EF029C-24BD-B5C1-0B7B-4D3BE5928051}"/>
              </a:ext>
            </a:extLst>
          </p:cNvPr>
          <p:cNvSpPr/>
          <p:nvPr/>
        </p:nvSpPr>
        <p:spPr>
          <a:xfrm>
            <a:off x="8394256" y="3031673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DE2C87-CBD4-EB6F-38E2-EFF5DBF51532}"/>
              </a:ext>
            </a:extLst>
          </p:cNvPr>
          <p:cNvSpPr/>
          <p:nvPr/>
        </p:nvSpPr>
        <p:spPr>
          <a:xfrm>
            <a:off x="8733077" y="3031673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1ECA04-690E-980A-AFC2-48E12A086880}"/>
              </a:ext>
            </a:extLst>
          </p:cNvPr>
          <p:cNvSpPr/>
          <p:nvPr/>
        </p:nvSpPr>
        <p:spPr>
          <a:xfrm>
            <a:off x="9064641" y="3031673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049E304-1510-9BE5-A7B7-6D49A3038E88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8113804" y="2901041"/>
            <a:ext cx="133129" cy="104546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1D86FB6-0656-3551-5B41-D33475286BAE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8344904" y="2901041"/>
            <a:ext cx="95617" cy="117502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51A271B-6F72-7643-8854-43137BC168A2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8667506" y="2930235"/>
            <a:ext cx="95086" cy="88308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D73DFD6-3CAE-FEE7-5BDF-294E0D0546FF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9000837" y="2901040"/>
            <a:ext cx="111444" cy="11281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34D2788-03A6-EE3D-B815-0842E95E7B8E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8440303" y="2930235"/>
            <a:ext cx="157928" cy="75352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9D8CE9D-C14C-07AE-761C-213A196E3E51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8771275" y="2901040"/>
            <a:ext cx="131591" cy="117503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流程图: 接点 62">
            <a:extLst>
              <a:ext uri="{FF2B5EF4-FFF2-40B4-BE49-F238E27FC236}">
                <a16:creationId xmlns:a16="http://schemas.microsoft.com/office/drawing/2014/main" id="{B82BAF74-BDFD-26BF-D5B3-BC159F056E76}"/>
              </a:ext>
            </a:extLst>
          </p:cNvPr>
          <p:cNvSpPr/>
          <p:nvPr/>
        </p:nvSpPr>
        <p:spPr>
          <a:xfrm>
            <a:off x="8055435" y="3414635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接点 63">
            <a:extLst>
              <a:ext uri="{FF2B5EF4-FFF2-40B4-BE49-F238E27FC236}">
                <a16:creationId xmlns:a16="http://schemas.microsoft.com/office/drawing/2014/main" id="{7B28B2AE-67E6-19DD-28D6-B825E579F581}"/>
              </a:ext>
            </a:extLst>
          </p:cNvPr>
          <p:cNvSpPr/>
          <p:nvPr/>
        </p:nvSpPr>
        <p:spPr>
          <a:xfrm>
            <a:off x="8392712" y="3414635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接点 64">
            <a:extLst>
              <a:ext uri="{FF2B5EF4-FFF2-40B4-BE49-F238E27FC236}">
                <a16:creationId xmlns:a16="http://schemas.microsoft.com/office/drawing/2014/main" id="{2726A776-284F-FF64-A992-0D089AC61CB7}"/>
              </a:ext>
            </a:extLst>
          </p:cNvPr>
          <p:cNvSpPr/>
          <p:nvPr/>
        </p:nvSpPr>
        <p:spPr>
          <a:xfrm>
            <a:off x="8729989" y="3414635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接点 65">
            <a:extLst>
              <a:ext uri="{FF2B5EF4-FFF2-40B4-BE49-F238E27FC236}">
                <a16:creationId xmlns:a16="http://schemas.microsoft.com/office/drawing/2014/main" id="{1A2F5CAD-B920-A8E6-842E-6872D74A47AB}"/>
              </a:ext>
            </a:extLst>
          </p:cNvPr>
          <p:cNvSpPr/>
          <p:nvPr/>
        </p:nvSpPr>
        <p:spPr>
          <a:xfrm>
            <a:off x="9060009" y="3414635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3704113-5BAC-398C-76EB-8F1FFD1D5CEA}"/>
              </a:ext>
            </a:extLst>
          </p:cNvPr>
          <p:cNvCxnSpPr>
            <a:cxnSpLocks/>
            <a:stCxn id="64" idx="2"/>
            <a:endCxn id="63" idx="6"/>
          </p:cNvCxnSpPr>
          <p:nvPr/>
        </p:nvCxnSpPr>
        <p:spPr>
          <a:xfrm flipH="1">
            <a:off x="8153406" y="3463621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8D0FDF0-CA37-21F2-EF40-C857F7BA0CB2}"/>
              </a:ext>
            </a:extLst>
          </p:cNvPr>
          <p:cNvCxnSpPr>
            <a:cxnSpLocks/>
          </p:cNvCxnSpPr>
          <p:nvPr/>
        </p:nvCxnSpPr>
        <p:spPr>
          <a:xfrm flipH="1">
            <a:off x="8486609" y="3460141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F8D78F5-00C1-D1E2-4456-6E180300B80E}"/>
              </a:ext>
            </a:extLst>
          </p:cNvPr>
          <p:cNvCxnSpPr>
            <a:cxnSpLocks/>
          </p:cNvCxnSpPr>
          <p:nvPr/>
        </p:nvCxnSpPr>
        <p:spPr>
          <a:xfrm flipH="1">
            <a:off x="8827856" y="3460141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流程图: 接点 94">
            <a:extLst>
              <a:ext uri="{FF2B5EF4-FFF2-40B4-BE49-F238E27FC236}">
                <a16:creationId xmlns:a16="http://schemas.microsoft.com/office/drawing/2014/main" id="{32968407-C383-DD82-C2B1-747C8D5138CD}"/>
              </a:ext>
            </a:extLst>
          </p:cNvPr>
          <p:cNvSpPr/>
          <p:nvPr/>
        </p:nvSpPr>
        <p:spPr>
          <a:xfrm>
            <a:off x="8060876" y="3708553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流程图: 接点 95">
            <a:extLst>
              <a:ext uri="{FF2B5EF4-FFF2-40B4-BE49-F238E27FC236}">
                <a16:creationId xmlns:a16="http://schemas.microsoft.com/office/drawing/2014/main" id="{9C81C7D1-C72D-BB13-8A9E-1A3F70988F99}"/>
              </a:ext>
            </a:extLst>
          </p:cNvPr>
          <p:cNvSpPr/>
          <p:nvPr/>
        </p:nvSpPr>
        <p:spPr>
          <a:xfrm>
            <a:off x="8398153" y="3708553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流程图: 接点 96">
            <a:extLst>
              <a:ext uri="{FF2B5EF4-FFF2-40B4-BE49-F238E27FC236}">
                <a16:creationId xmlns:a16="http://schemas.microsoft.com/office/drawing/2014/main" id="{74FE86E8-1627-69EC-C5E0-5C853CD8B2DC}"/>
              </a:ext>
            </a:extLst>
          </p:cNvPr>
          <p:cNvSpPr/>
          <p:nvPr/>
        </p:nvSpPr>
        <p:spPr>
          <a:xfrm>
            <a:off x="8735430" y="3708553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流程图: 接点 97">
            <a:extLst>
              <a:ext uri="{FF2B5EF4-FFF2-40B4-BE49-F238E27FC236}">
                <a16:creationId xmlns:a16="http://schemas.microsoft.com/office/drawing/2014/main" id="{A3D2EF91-F84E-E483-1017-9AA1CC4CC906}"/>
              </a:ext>
            </a:extLst>
          </p:cNvPr>
          <p:cNvSpPr/>
          <p:nvPr/>
        </p:nvSpPr>
        <p:spPr>
          <a:xfrm>
            <a:off x="9065450" y="3708553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流程图: 接点 122">
            <a:extLst>
              <a:ext uri="{FF2B5EF4-FFF2-40B4-BE49-F238E27FC236}">
                <a16:creationId xmlns:a16="http://schemas.microsoft.com/office/drawing/2014/main" id="{196E6985-ADA5-BFD7-3765-6CE19C172618}"/>
              </a:ext>
            </a:extLst>
          </p:cNvPr>
          <p:cNvSpPr/>
          <p:nvPr/>
        </p:nvSpPr>
        <p:spPr>
          <a:xfrm>
            <a:off x="5040268" y="7239692"/>
            <a:ext cx="260902" cy="260902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28AF7252-8494-D519-07B2-33C9A6122770}"/>
              </a:ext>
            </a:extLst>
          </p:cNvPr>
          <p:cNvCxnSpPr>
            <a:cxnSpLocks/>
            <a:stCxn id="96" idx="2"/>
            <a:endCxn id="95" idx="6"/>
          </p:cNvCxnSpPr>
          <p:nvPr/>
        </p:nvCxnSpPr>
        <p:spPr>
          <a:xfrm flipH="1">
            <a:off x="8158847" y="3757539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1754CAE7-532D-821E-E521-1BC716DDDE0F}"/>
              </a:ext>
            </a:extLst>
          </p:cNvPr>
          <p:cNvCxnSpPr>
            <a:cxnSpLocks/>
          </p:cNvCxnSpPr>
          <p:nvPr/>
        </p:nvCxnSpPr>
        <p:spPr>
          <a:xfrm flipH="1">
            <a:off x="8492050" y="3754059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89D7277-EF76-C009-B56F-A4A655821060}"/>
              </a:ext>
            </a:extLst>
          </p:cNvPr>
          <p:cNvCxnSpPr>
            <a:cxnSpLocks/>
          </p:cNvCxnSpPr>
          <p:nvPr/>
        </p:nvCxnSpPr>
        <p:spPr>
          <a:xfrm flipH="1">
            <a:off x="8833297" y="3754059"/>
            <a:ext cx="239306" cy="0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箭头: 上弧形 116">
            <a:extLst>
              <a:ext uri="{FF2B5EF4-FFF2-40B4-BE49-F238E27FC236}">
                <a16:creationId xmlns:a16="http://schemas.microsoft.com/office/drawing/2014/main" id="{6DA25CD2-62D3-D9A6-5B70-5E8D8BEF460C}"/>
              </a:ext>
            </a:extLst>
          </p:cNvPr>
          <p:cNvSpPr/>
          <p:nvPr/>
        </p:nvSpPr>
        <p:spPr>
          <a:xfrm>
            <a:off x="8126194" y="3296197"/>
            <a:ext cx="292337" cy="89261"/>
          </a:xfrm>
          <a:prstGeom prst="curvedDownArrow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8" name="箭头: 上弧形 117">
            <a:extLst>
              <a:ext uri="{FF2B5EF4-FFF2-40B4-BE49-F238E27FC236}">
                <a16:creationId xmlns:a16="http://schemas.microsoft.com/office/drawing/2014/main" id="{F6B8A9D0-12E9-3D75-3DCC-22F2B02BAA2E}"/>
              </a:ext>
            </a:extLst>
          </p:cNvPr>
          <p:cNvSpPr/>
          <p:nvPr/>
        </p:nvSpPr>
        <p:spPr>
          <a:xfrm>
            <a:off x="8475698" y="3296197"/>
            <a:ext cx="292337" cy="89261"/>
          </a:xfrm>
          <a:prstGeom prst="curvedDownArrow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9" name="箭头: 上弧形 118">
            <a:extLst>
              <a:ext uri="{FF2B5EF4-FFF2-40B4-BE49-F238E27FC236}">
                <a16:creationId xmlns:a16="http://schemas.microsoft.com/office/drawing/2014/main" id="{CC62AC61-429B-E25A-E65D-19152E89A70A}"/>
              </a:ext>
            </a:extLst>
          </p:cNvPr>
          <p:cNvSpPr/>
          <p:nvPr/>
        </p:nvSpPr>
        <p:spPr>
          <a:xfrm>
            <a:off x="8836088" y="3296197"/>
            <a:ext cx="292337" cy="89261"/>
          </a:xfrm>
          <a:prstGeom prst="curvedDownArrow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A8AFAF7-9FDD-FC22-07C4-3A568768E544}"/>
              </a:ext>
            </a:extLst>
          </p:cNvPr>
          <p:cNvSpPr txBox="1"/>
          <p:nvPr/>
        </p:nvSpPr>
        <p:spPr>
          <a:xfrm>
            <a:off x="9109275" y="2734277"/>
            <a:ext cx="37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239422-D345-31BE-0306-79522429D4A0}"/>
              </a:ext>
            </a:extLst>
          </p:cNvPr>
          <p:cNvSpPr txBox="1"/>
          <p:nvPr/>
        </p:nvSpPr>
        <p:spPr>
          <a:xfrm>
            <a:off x="9109275" y="3194005"/>
            <a:ext cx="37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86316C0-4839-EBFA-13D8-848399D6AA9D}"/>
              </a:ext>
            </a:extLst>
          </p:cNvPr>
          <p:cNvSpPr txBox="1"/>
          <p:nvPr/>
        </p:nvSpPr>
        <p:spPr>
          <a:xfrm>
            <a:off x="9114612" y="3518359"/>
            <a:ext cx="37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D43C7261-CBA6-9E9C-FA8E-9EA41938B4CE}"/>
              </a:ext>
            </a:extLst>
          </p:cNvPr>
          <p:cNvSpPr txBox="1"/>
          <p:nvPr/>
        </p:nvSpPr>
        <p:spPr>
          <a:xfrm>
            <a:off x="5009337" y="7230983"/>
            <a:ext cx="43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E1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25" name="流程图: 接点 124">
            <a:extLst>
              <a:ext uri="{FF2B5EF4-FFF2-40B4-BE49-F238E27FC236}">
                <a16:creationId xmlns:a16="http://schemas.microsoft.com/office/drawing/2014/main" id="{A8ED90BF-801C-BE63-8F9F-9B05DFD68F55}"/>
              </a:ext>
            </a:extLst>
          </p:cNvPr>
          <p:cNvSpPr/>
          <p:nvPr/>
        </p:nvSpPr>
        <p:spPr>
          <a:xfrm>
            <a:off x="5040268" y="7741455"/>
            <a:ext cx="260902" cy="260902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流程图: 接点 125">
            <a:extLst>
              <a:ext uri="{FF2B5EF4-FFF2-40B4-BE49-F238E27FC236}">
                <a16:creationId xmlns:a16="http://schemas.microsoft.com/office/drawing/2014/main" id="{AC89434E-4D71-FF56-F069-64C9CDFF1D56}"/>
              </a:ext>
            </a:extLst>
          </p:cNvPr>
          <p:cNvSpPr/>
          <p:nvPr/>
        </p:nvSpPr>
        <p:spPr>
          <a:xfrm>
            <a:off x="5043899" y="8287856"/>
            <a:ext cx="260902" cy="260902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7050AC7-17AE-D121-D867-99ECB5862941}"/>
              </a:ext>
            </a:extLst>
          </p:cNvPr>
          <p:cNvSpPr txBox="1"/>
          <p:nvPr/>
        </p:nvSpPr>
        <p:spPr>
          <a:xfrm>
            <a:off x="5009336" y="7741620"/>
            <a:ext cx="43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E2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1DDED94-F7C4-E7E1-5F49-08010881DCC9}"/>
              </a:ext>
            </a:extLst>
          </p:cNvPr>
          <p:cNvSpPr txBox="1"/>
          <p:nvPr/>
        </p:nvSpPr>
        <p:spPr>
          <a:xfrm>
            <a:off x="5009336" y="8281981"/>
            <a:ext cx="43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E3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32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804564-ACDB-7319-9E7A-123BF1E075D4}"/>
              </a:ext>
            </a:extLst>
          </p:cNvPr>
          <p:cNvSpPr/>
          <p:nvPr/>
        </p:nvSpPr>
        <p:spPr>
          <a:xfrm>
            <a:off x="406713" y="82440"/>
            <a:ext cx="5025005" cy="2583809"/>
          </a:xfrm>
          <a:prstGeom prst="roundRect">
            <a:avLst>
              <a:gd name="adj" fmla="val 3638"/>
            </a:avLst>
          </a:prstGeom>
          <a:solidFill>
            <a:srgbClr val="F6F9FC"/>
          </a:solidFill>
          <a:ln w="34925">
            <a:solidFill>
              <a:srgbClr val="4879BA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BC3E5A-7707-9C34-B522-CD9AD78F2DDF}"/>
              </a:ext>
            </a:extLst>
          </p:cNvPr>
          <p:cNvGrpSpPr/>
          <p:nvPr/>
        </p:nvGrpSpPr>
        <p:grpSpPr>
          <a:xfrm>
            <a:off x="591270" y="258060"/>
            <a:ext cx="2380379" cy="451247"/>
            <a:chOff x="1340840" y="1000047"/>
            <a:chExt cx="2380379" cy="451247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4E10E23-075B-CDA6-88B4-80C65F32F323}"/>
                </a:ext>
              </a:extLst>
            </p:cNvPr>
            <p:cNvSpPr/>
            <p:nvPr/>
          </p:nvSpPr>
          <p:spPr>
            <a:xfrm>
              <a:off x="1340840" y="1000047"/>
              <a:ext cx="2306974" cy="451247"/>
            </a:xfrm>
            <a:prstGeom prst="roundRect">
              <a:avLst>
                <a:gd name="adj" fmla="val 31303"/>
              </a:avLst>
            </a:prstGeom>
            <a:solidFill>
              <a:srgbClr val="195BAB"/>
            </a:solidFill>
            <a:ln w="34925">
              <a:solidFill>
                <a:srgbClr val="4879B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B7BFEAC-B185-B78C-E0F0-5843C32CDA2B}"/>
                </a:ext>
              </a:extLst>
            </p:cNvPr>
            <p:cNvSpPr/>
            <p:nvPr/>
          </p:nvSpPr>
          <p:spPr>
            <a:xfrm>
              <a:off x="1414245" y="1067604"/>
              <a:ext cx="295013" cy="308996"/>
            </a:xfrm>
            <a:prstGeom prst="roundRect">
              <a:avLst>
                <a:gd name="adj" fmla="val 26387"/>
              </a:avLst>
            </a:prstGeom>
            <a:solidFill>
              <a:srgbClr val="F6F9FC"/>
            </a:solidFill>
            <a:ln w="34925">
              <a:solidFill>
                <a:srgbClr val="4879B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104B9F"/>
                  </a:solidFill>
                  <a:latin typeface="+mn-ea"/>
                </a:rPr>
                <a:t>1</a:t>
              </a:r>
              <a:endParaRPr lang="zh-CN" altLang="en-US" b="1" dirty="0">
                <a:solidFill>
                  <a:srgbClr val="104B9F"/>
                </a:solidFill>
                <a:latin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3E4F7A3-000E-8514-2372-32078554BCC8}"/>
                </a:ext>
              </a:extLst>
            </p:cNvPr>
            <p:cNvSpPr txBox="1"/>
            <p:nvPr/>
          </p:nvSpPr>
          <p:spPr>
            <a:xfrm>
              <a:off x="1665915" y="1033603"/>
              <a:ext cx="2055304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00" b="1" dirty="0">
                  <a:solidFill>
                    <a:schemeClr val="bg1"/>
                  </a:solidFill>
                </a:rPr>
                <a:t>Data Processing</a:t>
              </a:r>
              <a:endParaRPr lang="zh-CN" altLang="en-US" sz="19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0CB7156-9838-B1A2-EAFE-1729D02A250A}"/>
              </a:ext>
            </a:extLst>
          </p:cNvPr>
          <p:cNvGrpSpPr/>
          <p:nvPr/>
        </p:nvGrpSpPr>
        <p:grpSpPr>
          <a:xfrm>
            <a:off x="570416" y="897785"/>
            <a:ext cx="1090330" cy="1460385"/>
            <a:chOff x="1514331" y="1643542"/>
            <a:chExt cx="1090330" cy="1401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CCE0A1D-F612-50E3-C399-06A7E5D9F232}"/>
                </a:ext>
              </a:extLst>
            </p:cNvPr>
            <p:cNvSpPr/>
            <p:nvPr/>
          </p:nvSpPr>
          <p:spPr>
            <a:xfrm>
              <a:off x="1535185" y="1643542"/>
              <a:ext cx="1048624" cy="1401662"/>
            </a:xfrm>
            <a:prstGeom prst="roundRect">
              <a:avLst>
                <a:gd name="adj" fmla="val 10299"/>
              </a:avLst>
            </a:prstGeom>
            <a:solidFill>
              <a:srgbClr val="F6F9FC"/>
            </a:solidFill>
            <a:ln w="34925">
              <a:solidFill>
                <a:srgbClr val="4879BA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2" name="图形 11" descr="文档 纯色填充">
              <a:extLst>
                <a:ext uri="{FF2B5EF4-FFF2-40B4-BE49-F238E27FC236}">
                  <a16:creationId xmlns:a16="http://schemas.microsoft.com/office/drawing/2014/main" id="{1DD61434-FDD0-8BE8-5A12-07B3CC3EA0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7621" y="1750782"/>
              <a:ext cx="703751" cy="70375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104C030-1E5E-6EFA-F2A4-FB46C5743E4E}"/>
                </a:ext>
              </a:extLst>
            </p:cNvPr>
            <p:cNvSpPr txBox="1"/>
            <p:nvPr/>
          </p:nvSpPr>
          <p:spPr>
            <a:xfrm>
              <a:off x="1514331" y="2488258"/>
              <a:ext cx="10903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Raw Text Data</a:t>
              </a:r>
              <a:endParaRPr lang="zh-CN" altLang="en-US" sz="14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9E4F3BB-0EFF-637C-6D31-7927AACF0C64}"/>
              </a:ext>
            </a:extLst>
          </p:cNvPr>
          <p:cNvGrpSpPr/>
          <p:nvPr/>
        </p:nvGrpSpPr>
        <p:grpSpPr>
          <a:xfrm>
            <a:off x="2050251" y="893662"/>
            <a:ext cx="1628981" cy="1460385"/>
            <a:chOff x="3144354" y="1662778"/>
            <a:chExt cx="1628981" cy="146038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0D4B021-C2AB-908A-894A-DC7242926CE5}"/>
                </a:ext>
              </a:extLst>
            </p:cNvPr>
            <p:cNvGrpSpPr/>
            <p:nvPr/>
          </p:nvGrpSpPr>
          <p:grpSpPr>
            <a:xfrm>
              <a:off x="3144354" y="1662778"/>
              <a:ext cx="1628981" cy="1460385"/>
              <a:chOff x="1514331" y="1643542"/>
              <a:chExt cx="1090330" cy="1401662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9E35220A-B009-E097-1675-568010366356}"/>
                  </a:ext>
                </a:extLst>
              </p:cNvPr>
              <p:cNvSpPr/>
              <p:nvPr/>
            </p:nvSpPr>
            <p:spPr>
              <a:xfrm>
                <a:off x="1535185" y="1643542"/>
                <a:ext cx="1048624" cy="1401662"/>
              </a:xfrm>
              <a:prstGeom prst="roundRect">
                <a:avLst>
                  <a:gd name="adj" fmla="val 10299"/>
                </a:avLst>
              </a:prstGeom>
              <a:solidFill>
                <a:srgbClr val="F6F9FC"/>
              </a:solidFill>
              <a:ln w="34925">
                <a:solidFill>
                  <a:srgbClr val="4879BA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4785325-0BCB-0BDD-0173-51F8CEE66791}"/>
                  </a:ext>
                </a:extLst>
              </p:cNvPr>
              <p:cNvSpPr txBox="1"/>
              <p:nvPr/>
            </p:nvSpPr>
            <p:spPr>
              <a:xfrm>
                <a:off x="1514331" y="2488258"/>
                <a:ext cx="1090330" cy="502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/>
                  <a:t>Tokenizer &amp;</a:t>
                </a:r>
              </a:p>
              <a:p>
                <a:pPr algn="ctr"/>
                <a:r>
                  <a:rPr lang="en-US" altLang="zh-CN" sz="1400" dirty="0"/>
                  <a:t>Encoder</a:t>
                </a:r>
                <a:endParaRPr lang="zh-CN" altLang="en-US" sz="1400" dirty="0"/>
              </a:p>
            </p:txBody>
          </p:sp>
        </p:grpSp>
        <p:pic>
          <p:nvPicPr>
            <p:cNvPr id="21" name="图形 20" descr="书籍 纯色填充">
              <a:extLst>
                <a:ext uri="{FF2B5EF4-FFF2-40B4-BE49-F238E27FC236}">
                  <a16:creationId xmlns:a16="http://schemas.microsoft.com/office/drawing/2014/main" id="{AC29609E-5EB7-CFE7-36D4-1E5DD8F8CE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80896" y="1786989"/>
              <a:ext cx="755895" cy="755895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37EEF7-D687-0868-B390-FE459F18C430}"/>
              </a:ext>
            </a:extLst>
          </p:cNvPr>
          <p:cNvGrpSpPr/>
          <p:nvPr/>
        </p:nvGrpSpPr>
        <p:grpSpPr>
          <a:xfrm>
            <a:off x="4119882" y="893661"/>
            <a:ext cx="1147957" cy="1618771"/>
            <a:chOff x="5190906" y="1662777"/>
            <a:chExt cx="1147957" cy="1618771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B37A49B-1A6D-7078-D820-93FE815FB5E7}"/>
                </a:ext>
              </a:extLst>
            </p:cNvPr>
            <p:cNvGrpSpPr/>
            <p:nvPr/>
          </p:nvGrpSpPr>
          <p:grpSpPr>
            <a:xfrm>
              <a:off x="5190906" y="1662777"/>
              <a:ext cx="1147957" cy="1618771"/>
              <a:chOff x="1513510" y="1643541"/>
              <a:chExt cx="1091151" cy="1553679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2A5BF49E-0E41-667C-E2B4-5411E1C7ED23}"/>
                  </a:ext>
                </a:extLst>
              </p:cNvPr>
              <p:cNvSpPr/>
              <p:nvPr/>
            </p:nvSpPr>
            <p:spPr>
              <a:xfrm>
                <a:off x="1513510" y="1643541"/>
                <a:ext cx="1048624" cy="1401662"/>
              </a:xfrm>
              <a:prstGeom prst="roundRect">
                <a:avLst>
                  <a:gd name="adj" fmla="val 10299"/>
                </a:avLst>
              </a:prstGeom>
              <a:solidFill>
                <a:schemeClr val="bg1"/>
              </a:solidFill>
              <a:ln w="34925">
                <a:solidFill>
                  <a:srgbClr val="4879BA"/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78CAD6-9FB6-FD85-1B9F-951DF84B3961}"/>
                  </a:ext>
                </a:extLst>
              </p:cNvPr>
              <p:cNvSpPr txBox="1"/>
              <p:nvPr/>
            </p:nvSpPr>
            <p:spPr>
              <a:xfrm>
                <a:off x="1514331" y="2488258"/>
                <a:ext cx="1090330" cy="708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/>
                  <a:t>Output</a:t>
                </a:r>
              </a:p>
              <a:p>
                <a:pPr algn="ctr"/>
                <a:r>
                  <a:rPr lang="en-US" altLang="zh-CN" sz="1400" dirty="0"/>
                  <a:t>Embeddings</a:t>
                </a:r>
                <a:endParaRPr lang="zh-CN" altLang="en-US" sz="1400" dirty="0"/>
              </a:p>
            </p:txBody>
          </p:sp>
        </p:grpSp>
        <p:pic>
          <p:nvPicPr>
            <p:cNvPr id="28" name="图形 27" descr="数据库 纯色填充">
              <a:extLst>
                <a:ext uri="{FF2B5EF4-FFF2-40B4-BE49-F238E27FC236}">
                  <a16:creationId xmlns:a16="http://schemas.microsoft.com/office/drawing/2014/main" id="{E6124858-B0B9-65E8-09E8-537EF4B6F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71511" y="1755274"/>
              <a:ext cx="787610" cy="787610"/>
            </a:xfrm>
            <a:prstGeom prst="rect">
              <a:avLst/>
            </a:prstGeom>
          </p:spPr>
        </p:pic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E9A7FF1-C031-290F-72E4-93A877B87525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1639894" y="1623855"/>
            <a:ext cx="441513" cy="4123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891EB52-C3BE-7F38-757C-D9A9368714CD}"/>
              </a:ext>
            </a:extLst>
          </p:cNvPr>
          <p:cNvCxnSpPr>
            <a:cxnSpLocks/>
          </p:cNvCxnSpPr>
          <p:nvPr/>
        </p:nvCxnSpPr>
        <p:spPr>
          <a:xfrm flipV="1">
            <a:off x="3663655" y="1623855"/>
            <a:ext cx="441513" cy="4123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2FE9D0D-D20C-B746-969A-AB1EF29EDEB1}"/>
              </a:ext>
            </a:extLst>
          </p:cNvPr>
          <p:cNvSpPr/>
          <p:nvPr/>
        </p:nvSpPr>
        <p:spPr>
          <a:xfrm>
            <a:off x="5756793" y="82440"/>
            <a:ext cx="5798889" cy="2583809"/>
          </a:xfrm>
          <a:prstGeom prst="roundRect">
            <a:avLst>
              <a:gd name="adj" fmla="val 3638"/>
            </a:avLst>
          </a:prstGeom>
          <a:solidFill>
            <a:srgbClr val="FDF9EC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DF11F68-32E5-D4EC-16F2-4B10093701E6}"/>
              </a:ext>
            </a:extLst>
          </p:cNvPr>
          <p:cNvGrpSpPr/>
          <p:nvPr/>
        </p:nvGrpSpPr>
        <p:grpSpPr>
          <a:xfrm>
            <a:off x="5941350" y="258060"/>
            <a:ext cx="2543961" cy="710664"/>
            <a:chOff x="1340840" y="1000047"/>
            <a:chExt cx="2380379" cy="710664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ED82B534-871A-3820-1E31-5877A8186E88}"/>
                </a:ext>
              </a:extLst>
            </p:cNvPr>
            <p:cNvSpPr/>
            <p:nvPr/>
          </p:nvSpPr>
          <p:spPr>
            <a:xfrm>
              <a:off x="1340840" y="1000047"/>
              <a:ext cx="2306974" cy="451247"/>
            </a:xfrm>
            <a:prstGeom prst="roundRect">
              <a:avLst>
                <a:gd name="adj" fmla="val 31303"/>
              </a:avLst>
            </a:prstGeom>
            <a:solidFill>
              <a:srgbClr val="A77B1B"/>
            </a:solidFill>
            <a:ln w="34925">
              <a:solidFill>
                <a:srgbClr val="A77B1B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9E081384-7AF7-5522-23D7-ED36BFD21887}"/>
                </a:ext>
              </a:extLst>
            </p:cNvPr>
            <p:cNvSpPr/>
            <p:nvPr/>
          </p:nvSpPr>
          <p:spPr>
            <a:xfrm>
              <a:off x="1414245" y="1067604"/>
              <a:ext cx="295013" cy="308996"/>
            </a:xfrm>
            <a:prstGeom prst="roundRect">
              <a:avLst>
                <a:gd name="adj" fmla="val 26387"/>
              </a:avLst>
            </a:prstGeom>
            <a:solidFill>
              <a:srgbClr val="F6F9FC"/>
            </a:solidFill>
            <a:ln w="34925">
              <a:solidFill>
                <a:srgbClr val="A77B1B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A77B1B"/>
                  </a:solidFill>
                  <a:latin typeface="+mn-ea"/>
                </a:rPr>
                <a:t>2</a:t>
              </a:r>
              <a:endParaRPr lang="zh-CN" altLang="en-US" b="1" dirty="0">
                <a:solidFill>
                  <a:srgbClr val="A77B1B"/>
                </a:solidFill>
                <a:latin typeface="+mn-ea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0A7935D-CA4E-35C7-9F9E-7D584355F7AB}"/>
                </a:ext>
              </a:extLst>
            </p:cNvPr>
            <p:cNvSpPr txBox="1"/>
            <p:nvPr/>
          </p:nvSpPr>
          <p:spPr>
            <a:xfrm>
              <a:off x="1665915" y="1033603"/>
              <a:ext cx="2055304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900" b="1" dirty="0">
                  <a:solidFill>
                    <a:schemeClr val="bg1"/>
                  </a:solidFill>
                </a:rPr>
                <a:t>ELAM-CRF Model</a:t>
              </a:r>
              <a:endParaRPr lang="zh-CN" altLang="en-US" sz="19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AA4473C6-F12F-5BC1-5701-9EC5A7FC880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7158189" y="1672324"/>
            <a:ext cx="253797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DA1122E-53BD-B6D7-A33E-B2C06D1102EA}"/>
              </a:ext>
            </a:extLst>
          </p:cNvPr>
          <p:cNvGrpSpPr/>
          <p:nvPr/>
        </p:nvGrpSpPr>
        <p:grpSpPr>
          <a:xfrm>
            <a:off x="5821223" y="925431"/>
            <a:ext cx="1440751" cy="1507623"/>
            <a:chOff x="1417123" y="1639585"/>
            <a:chExt cx="1440751" cy="1414647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59FEA3D8-69C6-56A1-DDFF-76AA835C5934}"/>
                </a:ext>
              </a:extLst>
            </p:cNvPr>
            <p:cNvSpPr/>
            <p:nvPr/>
          </p:nvSpPr>
          <p:spPr>
            <a:xfrm>
              <a:off x="1520910" y="1639585"/>
              <a:ext cx="1233179" cy="1401662"/>
            </a:xfrm>
            <a:prstGeom prst="roundRect">
              <a:avLst>
                <a:gd name="adj" fmla="val 10299"/>
              </a:avLst>
            </a:prstGeom>
            <a:solidFill>
              <a:srgbClr val="FDF9EC"/>
            </a:solidFill>
            <a:ln w="34925">
              <a:solidFill>
                <a:srgbClr val="CB9A42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2CB7CDD-8917-4822-83AA-058FB73F6186}"/>
                </a:ext>
              </a:extLst>
            </p:cNvPr>
            <p:cNvSpPr txBox="1"/>
            <p:nvPr/>
          </p:nvSpPr>
          <p:spPr>
            <a:xfrm>
              <a:off x="1417123" y="2433890"/>
              <a:ext cx="1440751" cy="6203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Attention-based Inter-Interaction Encoding</a:t>
              </a:r>
              <a:endParaRPr lang="zh-CN" altLang="en-US" sz="1200" dirty="0"/>
            </a:p>
          </p:txBody>
        </p:sp>
      </p:grpSp>
      <p:pic>
        <p:nvPicPr>
          <p:cNvPr id="60" name="图形 59" descr="报纸 纯色填充">
            <a:extLst>
              <a:ext uri="{FF2B5EF4-FFF2-40B4-BE49-F238E27FC236}">
                <a16:creationId xmlns:a16="http://schemas.microsoft.com/office/drawing/2014/main" id="{D04177ED-38FB-5B9C-4608-9E058E5F2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807" y="1017873"/>
            <a:ext cx="729106" cy="729106"/>
          </a:xfrm>
          <a:prstGeom prst="rect">
            <a:avLst/>
          </a:prstGeom>
        </p:spPr>
      </p:pic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1451B33-76F2-DF92-03E7-12EF8BC6016B}"/>
              </a:ext>
            </a:extLst>
          </p:cNvPr>
          <p:cNvSpPr/>
          <p:nvPr/>
        </p:nvSpPr>
        <p:spPr>
          <a:xfrm>
            <a:off x="7417312" y="918483"/>
            <a:ext cx="1223335" cy="1493785"/>
          </a:xfrm>
          <a:prstGeom prst="roundRect">
            <a:avLst>
              <a:gd name="adj" fmla="val 10299"/>
            </a:avLst>
          </a:prstGeom>
          <a:solidFill>
            <a:srgbClr val="FDF9EC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58672B4-8F50-0EFB-76D7-717A417D96A1}"/>
              </a:ext>
            </a:extLst>
          </p:cNvPr>
          <p:cNvSpPr txBox="1"/>
          <p:nvPr/>
        </p:nvSpPr>
        <p:spPr>
          <a:xfrm>
            <a:off x="7313525" y="1764993"/>
            <a:ext cx="144075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Gated</a:t>
            </a:r>
          </a:p>
          <a:p>
            <a:pPr algn="ctr"/>
            <a:r>
              <a:rPr lang="en-US" altLang="zh-CN" sz="1200" dirty="0"/>
              <a:t>Representation</a:t>
            </a:r>
          </a:p>
          <a:p>
            <a:pPr algn="ctr"/>
            <a:r>
              <a:rPr lang="en-US" altLang="zh-CN" sz="1200" dirty="0"/>
              <a:t>Fusion</a:t>
            </a:r>
            <a:endParaRPr lang="zh-CN" altLang="en-US" sz="1200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4CCE9B4-B247-E0D6-475F-221C35A9653F}"/>
              </a:ext>
            </a:extLst>
          </p:cNvPr>
          <p:cNvSpPr/>
          <p:nvPr/>
        </p:nvSpPr>
        <p:spPr>
          <a:xfrm>
            <a:off x="8909612" y="893661"/>
            <a:ext cx="859583" cy="1493785"/>
          </a:xfrm>
          <a:prstGeom prst="roundRect">
            <a:avLst>
              <a:gd name="adj" fmla="val 10299"/>
            </a:avLst>
          </a:prstGeom>
          <a:solidFill>
            <a:srgbClr val="FDF9EC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9B027D4-2971-2CE2-26A6-DFAAD3F6CF91}"/>
              </a:ext>
            </a:extLst>
          </p:cNvPr>
          <p:cNvSpPr txBox="1"/>
          <p:nvPr/>
        </p:nvSpPr>
        <p:spPr>
          <a:xfrm>
            <a:off x="8619816" y="1821268"/>
            <a:ext cx="144075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CRF</a:t>
            </a:r>
          </a:p>
          <a:p>
            <a:pPr algn="ctr"/>
            <a:r>
              <a:rPr lang="en-US" altLang="zh-CN" sz="1200" dirty="0"/>
              <a:t>Decoder</a:t>
            </a:r>
            <a:endParaRPr lang="zh-CN" altLang="en-US" sz="1200" dirty="0"/>
          </a:p>
        </p:txBody>
      </p:sp>
      <p:pic>
        <p:nvPicPr>
          <p:cNvPr id="68" name="图形 67" descr="沙漏已完成 纯色填充">
            <a:extLst>
              <a:ext uri="{FF2B5EF4-FFF2-40B4-BE49-F238E27FC236}">
                <a16:creationId xmlns:a16="http://schemas.microsoft.com/office/drawing/2014/main" id="{A41CE6DB-B2D5-2E3B-96BB-69AFC060E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7441" y="1074068"/>
            <a:ext cx="624308" cy="624308"/>
          </a:xfrm>
          <a:prstGeom prst="rect">
            <a:avLst/>
          </a:prstGeom>
        </p:spPr>
      </p:pic>
      <p:pic>
        <p:nvPicPr>
          <p:cNvPr id="70" name="图形 69" descr="放大镜 纯色填充">
            <a:extLst>
              <a:ext uri="{FF2B5EF4-FFF2-40B4-BE49-F238E27FC236}">
                <a16:creationId xmlns:a16="http://schemas.microsoft.com/office/drawing/2014/main" id="{8862FA28-3EF6-0994-1448-07C08BC2A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63851" y="1053003"/>
            <a:ext cx="646332" cy="646332"/>
          </a:xfrm>
          <a:prstGeom prst="rect">
            <a:avLst/>
          </a:prstGeom>
        </p:spPr>
      </p:pic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3862B4F-8581-295E-EA50-2E3B09DD7CEE}"/>
              </a:ext>
            </a:extLst>
          </p:cNvPr>
          <p:cNvCxnSpPr>
            <a:cxnSpLocks/>
          </p:cNvCxnSpPr>
          <p:nvPr/>
        </p:nvCxnSpPr>
        <p:spPr>
          <a:xfrm>
            <a:off x="8640647" y="1672324"/>
            <a:ext cx="253797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104B490B-94BA-4401-EF89-4A34F50C7607}"/>
              </a:ext>
            </a:extLst>
          </p:cNvPr>
          <p:cNvSpPr/>
          <p:nvPr/>
        </p:nvSpPr>
        <p:spPr>
          <a:xfrm>
            <a:off x="10038160" y="893661"/>
            <a:ext cx="1223335" cy="1493785"/>
          </a:xfrm>
          <a:prstGeom prst="roundRect">
            <a:avLst>
              <a:gd name="adj" fmla="val 10299"/>
            </a:avLst>
          </a:prstGeom>
          <a:solidFill>
            <a:schemeClr val="bg1"/>
          </a:solidFill>
          <a:ln w="34925">
            <a:solidFill>
              <a:srgbClr val="CB9A4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D63C5B4-F139-E982-BAB3-288AA80AB199}"/>
              </a:ext>
            </a:extLst>
          </p:cNvPr>
          <p:cNvSpPr txBox="1"/>
          <p:nvPr/>
        </p:nvSpPr>
        <p:spPr>
          <a:xfrm>
            <a:off x="9956780" y="1821268"/>
            <a:ext cx="138078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Event Types: E</a:t>
            </a:r>
            <a:r>
              <a:rPr lang="en-US" altLang="zh-CN" sz="1200" baseline="-25000" dirty="0"/>
              <a:t>p</a:t>
            </a:r>
          </a:p>
          <a:p>
            <a:pPr algn="ctr"/>
            <a:r>
              <a:rPr lang="en-US" altLang="zh-CN" sz="1200" dirty="0"/>
              <a:t>Trigger: T</a:t>
            </a:r>
            <a:r>
              <a:rPr lang="en-US" altLang="zh-CN" sz="1200" baseline="-25000" dirty="0"/>
              <a:t>p</a:t>
            </a:r>
            <a:endParaRPr lang="en-US" altLang="zh-CN" sz="1200" dirty="0"/>
          </a:p>
        </p:txBody>
      </p:sp>
      <p:pic>
        <p:nvPicPr>
          <p:cNvPr id="75" name="图形 74" descr="清单 纯色填充">
            <a:extLst>
              <a:ext uri="{FF2B5EF4-FFF2-40B4-BE49-F238E27FC236}">
                <a16:creationId xmlns:a16="http://schemas.microsoft.com/office/drawing/2014/main" id="{424FA985-5B57-AE96-8063-6AE2659D8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6501" y="1047848"/>
            <a:ext cx="746651" cy="746651"/>
          </a:xfrm>
          <a:prstGeom prst="rect">
            <a:avLst/>
          </a:prstGeom>
        </p:spPr>
      </p:pic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48618C72-844C-2F87-3EF9-5725A757304C}"/>
              </a:ext>
            </a:extLst>
          </p:cNvPr>
          <p:cNvCxnSpPr>
            <a:cxnSpLocks/>
          </p:cNvCxnSpPr>
          <p:nvPr/>
        </p:nvCxnSpPr>
        <p:spPr>
          <a:xfrm>
            <a:off x="9769195" y="1672324"/>
            <a:ext cx="253797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35031445-43AD-AB92-EC5C-F4CC0390383F}"/>
              </a:ext>
            </a:extLst>
          </p:cNvPr>
          <p:cNvSpPr/>
          <p:nvPr/>
        </p:nvSpPr>
        <p:spPr>
          <a:xfrm>
            <a:off x="406713" y="2976578"/>
            <a:ext cx="11148969" cy="5235605"/>
          </a:xfrm>
          <a:prstGeom prst="roundRect">
            <a:avLst>
              <a:gd name="adj" fmla="val 3638"/>
            </a:avLst>
          </a:prstGeom>
          <a:solidFill>
            <a:srgbClr val="FAFCF9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4C0673AD-CF5D-FC00-6F01-09CE80254CFB}"/>
              </a:ext>
            </a:extLst>
          </p:cNvPr>
          <p:cNvSpPr/>
          <p:nvPr/>
        </p:nvSpPr>
        <p:spPr>
          <a:xfrm>
            <a:off x="591270" y="3196520"/>
            <a:ext cx="7894042" cy="451247"/>
          </a:xfrm>
          <a:prstGeom prst="roundRect">
            <a:avLst>
              <a:gd name="adj" fmla="val 31303"/>
            </a:avLst>
          </a:prstGeom>
          <a:solidFill>
            <a:srgbClr val="216C29"/>
          </a:solidFill>
          <a:ln w="34925">
            <a:solidFill>
              <a:srgbClr val="216C29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35D81786-BC00-E002-A27F-DFDC48B5EFCB}"/>
              </a:ext>
            </a:extLst>
          </p:cNvPr>
          <p:cNvSpPr/>
          <p:nvPr/>
        </p:nvSpPr>
        <p:spPr>
          <a:xfrm>
            <a:off x="664675" y="3264077"/>
            <a:ext cx="295013" cy="308996"/>
          </a:xfrm>
          <a:prstGeom prst="roundRect">
            <a:avLst>
              <a:gd name="adj" fmla="val 26387"/>
            </a:avLst>
          </a:prstGeom>
          <a:solidFill>
            <a:srgbClr val="F6F9FC"/>
          </a:solidFill>
          <a:ln w="34925">
            <a:solidFill>
              <a:srgbClr val="216C29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216C29"/>
                </a:solidFill>
                <a:latin typeface="+mn-ea"/>
              </a:rPr>
              <a:t>3</a:t>
            </a:r>
            <a:endParaRPr lang="zh-CN" altLang="en-US" b="1" dirty="0">
              <a:solidFill>
                <a:srgbClr val="216C29"/>
              </a:solidFill>
              <a:latin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62203CD-F545-EB7C-14CB-F47DCE77EE6C}"/>
              </a:ext>
            </a:extLst>
          </p:cNvPr>
          <p:cNvSpPr txBox="1"/>
          <p:nvPr/>
        </p:nvSpPr>
        <p:spPr>
          <a:xfrm>
            <a:off x="916345" y="3230076"/>
            <a:ext cx="81110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b="1" dirty="0">
                <a:solidFill>
                  <a:schemeClr val="bg1"/>
                </a:solidFill>
              </a:rPr>
              <a:t>Overview of the Proposed Multi-Agent Temporal Reasoning Pipeline</a:t>
            </a:r>
            <a:endParaRPr lang="zh-CN" altLang="en-US" sz="1900" b="1" dirty="0">
              <a:solidFill>
                <a:schemeClr val="bg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64974B4-B0F5-3244-F4BC-DE1958437A78}"/>
              </a:ext>
            </a:extLst>
          </p:cNvPr>
          <p:cNvSpPr/>
          <p:nvPr/>
        </p:nvSpPr>
        <p:spPr>
          <a:xfrm>
            <a:off x="664675" y="3925126"/>
            <a:ext cx="1588074" cy="634817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形 5" descr="文档 纯色填充">
            <a:extLst>
              <a:ext uri="{FF2B5EF4-FFF2-40B4-BE49-F238E27FC236}">
                <a16:creationId xmlns:a16="http://schemas.microsoft.com/office/drawing/2014/main" id="{FBC500F0-09FB-F788-D773-74E83A6E0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0682" y="3990137"/>
            <a:ext cx="503320" cy="45656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3DAC79D-D18B-5EEB-89BF-6784C51CE34F}"/>
              </a:ext>
            </a:extLst>
          </p:cNvPr>
          <p:cNvSpPr txBox="1"/>
          <p:nvPr/>
        </p:nvSpPr>
        <p:spPr>
          <a:xfrm>
            <a:off x="1147207" y="4072416"/>
            <a:ext cx="952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Text Data</a:t>
            </a:r>
            <a:endParaRPr lang="zh-CN" altLang="en-US" sz="1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C39D1CD-F967-0686-9591-E2FC74FF7CB4}"/>
              </a:ext>
            </a:extLst>
          </p:cNvPr>
          <p:cNvSpPr/>
          <p:nvPr/>
        </p:nvSpPr>
        <p:spPr>
          <a:xfrm>
            <a:off x="664675" y="4779063"/>
            <a:ext cx="1588074" cy="634817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540006-5155-5101-F720-36F910AE8253}"/>
              </a:ext>
            </a:extLst>
          </p:cNvPr>
          <p:cNvSpPr txBox="1"/>
          <p:nvPr/>
        </p:nvSpPr>
        <p:spPr>
          <a:xfrm>
            <a:off x="1180459" y="4942979"/>
            <a:ext cx="952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Trigger T</a:t>
            </a:r>
            <a:r>
              <a:rPr lang="en-US" altLang="zh-CN" sz="1400" baseline="-25000" dirty="0"/>
              <a:t>p</a:t>
            </a:r>
            <a:endParaRPr lang="zh-CN" altLang="en-US" sz="1400" baseline="-25000" dirty="0"/>
          </a:p>
        </p:txBody>
      </p:sp>
      <p:pic>
        <p:nvPicPr>
          <p:cNvPr id="27" name="图形 26" descr="靶心 纯色填充">
            <a:extLst>
              <a:ext uri="{FF2B5EF4-FFF2-40B4-BE49-F238E27FC236}">
                <a16:creationId xmlns:a16="http://schemas.microsoft.com/office/drawing/2014/main" id="{BAAF46D1-F4FF-676B-D049-F03613726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683" y="4849356"/>
            <a:ext cx="487412" cy="487412"/>
          </a:xfrm>
          <a:prstGeom prst="rect">
            <a:avLst/>
          </a:prstGeom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96B8954-EA38-1FAF-82A7-FCDB871CF69C}"/>
              </a:ext>
            </a:extLst>
          </p:cNvPr>
          <p:cNvSpPr/>
          <p:nvPr/>
        </p:nvSpPr>
        <p:spPr>
          <a:xfrm>
            <a:off x="664675" y="5635898"/>
            <a:ext cx="1588074" cy="634817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5A8B193-6B4A-17B5-1585-20F7085AA048}"/>
              </a:ext>
            </a:extLst>
          </p:cNvPr>
          <p:cNvSpPr txBox="1"/>
          <p:nvPr/>
        </p:nvSpPr>
        <p:spPr>
          <a:xfrm>
            <a:off x="1180459" y="5704043"/>
            <a:ext cx="91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Event Type E</a:t>
            </a:r>
            <a:r>
              <a:rPr lang="en-US" altLang="zh-CN" sz="1400" baseline="-25000" dirty="0"/>
              <a:t>p</a:t>
            </a:r>
            <a:endParaRPr lang="zh-CN" altLang="en-US" sz="1400" baseline="-25000" dirty="0"/>
          </a:p>
        </p:txBody>
      </p:sp>
      <p:pic>
        <p:nvPicPr>
          <p:cNvPr id="45" name="图形 44" descr="列表 纯色填充">
            <a:extLst>
              <a:ext uri="{FF2B5EF4-FFF2-40B4-BE49-F238E27FC236}">
                <a16:creationId xmlns:a16="http://schemas.microsoft.com/office/drawing/2014/main" id="{BE7CFF3B-E8B6-8450-BE53-03B0F6822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156" y="5679348"/>
            <a:ext cx="547915" cy="547915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0E1106C-E38A-09AF-6FDC-2F2726C09137}"/>
              </a:ext>
            </a:extLst>
          </p:cNvPr>
          <p:cNvSpPr/>
          <p:nvPr/>
        </p:nvSpPr>
        <p:spPr>
          <a:xfrm>
            <a:off x="2971649" y="3919156"/>
            <a:ext cx="8289846" cy="2041069"/>
          </a:xfrm>
          <a:prstGeom prst="roundRect">
            <a:avLst>
              <a:gd name="adj" fmla="val 10299"/>
            </a:avLst>
          </a:prstGeom>
          <a:solidFill>
            <a:srgbClr val="F6F9FC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0" name="图形 49" descr="数据库 纯色填充">
            <a:extLst>
              <a:ext uri="{FF2B5EF4-FFF2-40B4-BE49-F238E27FC236}">
                <a16:creationId xmlns:a16="http://schemas.microsoft.com/office/drawing/2014/main" id="{7E5AC4F4-DFBA-E631-828F-2BA90B289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58818" y="4494237"/>
            <a:ext cx="998747" cy="79218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D49C6637-4C47-B542-4B36-950AD38B7FB4}"/>
              </a:ext>
            </a:extLst>
          </p:cNvPr>
          <p:cNvSpPr txBox="1"/>
          <p:nvPr/>
        </p:nvSpPr>
        <p:spPr>
          <a:xfrm>
            <a:off x="3456664" y="5295523"/>
            <a:ext cx="1192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Temporal Database</a:t>
            </a:r>
            <a:endParaRPr lang="zh-CN" altLang="en-US" sz="16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A6DBEF4-8DEF-8A72-E6EB-55BD1283DBDE}"/>
              </a:ext>
            </a:extLst>
          </p:cNvPr>
          <p:cNvSpPr txBox="1"/>
          <p:nvPr/>
        </p:nvSpPr>
        <p:spPr>
          <a:xfrm>
            <a:off x="4272327" y="4065053"/>
            <a:ext cx="5684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216C29"/>
                </a:solidFill>
              </a:rPr>
              <a:t>Retrieval-Augmented Generation (RAG) Agent</a:t>
            </a:r>
            <a:endParaRPr lang="zh-CN" altLang="en-US" sz="2000" b="1" dirty="0">
              <a:solidFill>
                <a:srgbClr val="216C29"/>
              </a:solidFill>
            </a:endParaRPr>
          </a:p>
        </p:txBody>
      </p:sp>
      <p:pic>
        <p:nvPicPr>
          <p:cNvPr id="54" name="图形 53" descr="放大镜 纯色填充">
            <a:extLst>
              <a:ext uri="{FF2B5EF4-FFF2-40B4-BE49-F238E27FC236}">
                <a16:creationId xmlns:a16="http://schemas.microsoft.com/office/drawing/2014/main" id="{930AE793-7FD8-A5D0-3B72-51ECA3474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45275" y="4553468"/>
            <a:ext cx="735059" cy="735059"/>
          </a:xfrm>
          <a:prstGeom prst="rect">
            <a:avLst/>
          </a:prstGeom>
        </p:spPr>
      </p:pic>
      <p:pic>
        <p:nvPicPr>
          <p:cNvPr id="58" name="图形 57" descr="书架上的书籍 纯色填充">
            <a:extLst>
              <a:ext uri="{FF2B5EF4-FFF2-40B4-BE49-F238E27FC236}">
                <a16:creationId xmlns:a16="http://schemas.microsoft.com/office/drawing/2014/main" id="{3585BB53-E465-7826-16C7-CC2777C2CC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42726" y="4548871"/>
            <a:ext cx="746652" cy="746652"/>
          </a:xfrm>
          <a:prstGeom prst="rect">
            <a:avLst/>
          </a:prstGeom>
        </p:spPr>
      </p:pic>
      <p:grpSp>
        <p:nvGrpSpPr>
          <p:cNvPr id="61" name="组合 60">
            <a:extLst>
              <a:ext uri="{FF2B5EF4-FFF2-40B4-BE49-F238E27FC236}">
                <a16:creationId xmlns:a16="http://schemas.microsoft.com/office/drawing/2014/main" id="{F621DCBA-81FD-5A18-CD1D-6FC0D7C22AE8}"/>
              </a:ext>
            </a:extLst>
          </p:cNvPr>
          <p:cNvGrpSpPr/>
          <p:nvPr/>
        </p:nvGrpSpPr>
        <p:grpSpPr>
          <a:xfrm>
            <a:off x="9564792" y="4535802"/>
            <a:ext cx="998747" cy="831489"/>
            <a:chOff x="8251384" y="5350452"/>
            <a:chExt cx="998747" cy="831489"/>
          </a:xfrm>
        </p:grpSpPr>
        <p:pic>
          <p:nvPicPr>
            <p:cNvPr id="56" name="图形 55" descr="数据库 纯色填充">
              <a:extLst>
                <a:ext uri="{FF2B5EF4-FFF2-40B4-BE49-F238E27FC236}">
                  <a16:creationId xmlns:a16="http://schemas.microsoft.com/office/drawing/2014/main" id="{C5729E6B-089A-2E11-6F30-30A6EA6012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251384" y="5350452"/>
              <a:ext cx="998747" cy="792188"/>
            </a:xfrm>
            <a:prstGeom prst="rect">
              <a:avLst/>
            </a:prstGeom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D29FFB5-C930-B376-0898-D28384030D57}"/>
                </a:ext>
              </a:extLst>
            </p:cNvPr>
            <p:cNvSpPr txBox="1"/>
            <p:nvPr/>
          </p:nvSpPr>
          <p:spPr>
            <a:xfrm>
              <a:off x="8721319" y="5812609"/>
              <a:ext cx="409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3A4FCB"/>
                  </a:solidFill>
                  <a:latin typeface="Google Sans Text"/>
                </a:rPr>
                <a:t>✅</a:t>
              </a:r>
              <a:endParaRPr lang="zh-CN" altLang="en-US" dirty="0"/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C09E64C1-D59F-5B0C-F179-4D45CB65373A}"/>
              </a:ext>
            </a:extLst>
          </p:cNvPr>
          <p:cNvSpPr txBox="1"/>
          <p:nvPr/>
        </p:nvSpPr>
        <p:spPr>
          <a:xfrm>
            <a:off x="5666375" y="5359442"/>
            <a:ext cx="1192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Recall</a:t>
            </a:r>
            <a:endParaRPr lang="zh-CN" altLang="en-US" sz="16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D647B5C-17A4-8BE0-E6F8-287F2FBBC705}"/>
              </a:ext>
            </a:extLst>
          </p:cNvPr>
          <p:cNvSpPr txBox="1"/>
          <p:nvPr/>
        </p:nvSpPr>
        <p:spPr>
          <a:xfrm>
            <a:off x="7509918" y="5353714"/>
            <a:ext cx="1192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Re-ranking</a:t>
            </a:r>
            <a:endParaRPr lang="zh-CN" altLang="en-US" sz="16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562713A-849E-5367-01E7-CA51C5CA8625}"/>
              </a:ext>
            </a:extLst>
          </p:cNvPr>
          <p:cNvSpPr txBox="1"/>
          <p:nvPr/>
        </p:nvSpPr>
        <p:spPr>
          <a:xfrm>
            <a:off x="9511606" y="5362027"/>
            <a:ext cx="1192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Recall Data</a:t>
            </a:r>
            <a:endParaRPr lang="zh-CN" altLang="en-US" sz="1600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C987BB09-84A7-70ED-550B-EEC26DF553AB}"/>
              </a:ext>
            </a:extLst>
          </p:cNvPr>
          <p:cNvCxnSpPr/>
          <p:nvPr/>
        </p:nvCxnSpPr>
        <p:spPr>
          <a:xfrm>
            <a:off x="4649610" y="4890331"/>
            <a:ext cx="695473" cy="0"/>
          </a:xfrm>
          <a:prstGeom prst="straightConnector1">
            <a:avLst/>
          </a:prstGeom>
          <a:ln>
            <a:solidFill>
              <a:srgbClr val="306233"/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45CAD7CD-F418-AE22-527A-FB747B6B8417}"/>
              </a:ext>
            </a:extLst>
          </p:cNvPr>
          <p:cNvCxnSpPr/>
          <p:nvPr/>
        </p:nvCxnSpPr>
        <p:spPr>
          <a:xfrm>
            <a:off x="6618052" y="4890331"/>
            <a:ext cx="695473" cy="0"/>
          </a:xfrm>
          <a:prstGeom prst="straightConnector1">
            <a:avLst/>
          </a:prstGeom>
          <a:ln>
            <a:solidFill>
              <a:srgbClr val="306233"/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282D8059-1105-DF5A-C635-77D359904BB3}"/>
              </a:ext>
            </a:extLst>
          </p:cNvPr>
          <p:cNvCxnSpPr/>
          <p:nvPr/>
        </p:nvCxnSpPr>
        <p:spPr>
          <a:xfrm>
            <a:off x="8636372" y="4890331"/>
            <a:ext cx="695473" cy="0"/>
          </a:xfrm>
          <a:prstGeom prst="straightConnector1">
            <a:avLst/>
          </a:prstGeom>
          <a:ln>
            <a:solidFill>
              <a:srgbClr val="306233"/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BD21813-EB94-0192-1932-1F74D1B364C2}"/>
              </a:ext>
            </a:extLst>
          </p:cNvPr>
          <p:cNvSpPr/>
          <p:nvPr/>
        </p:nvSpPr>
        <p:spPr>
          <a:xfrm>
            <a:off x="2777906" y="6275549"/>
            <a:ext cx="1828799" cy="1706116"/>
          </a:xfrm>
          <a:prstGeom prst="roundRect">
            <a:avLst>
              <a:gd name="adj" fmla="val 5476"/>
            </a:avLst>
          </a:prstGeom>
          <a:solidFill>
            <a:srgbClr val="F2F6FB"/>
          </a:solidFill>
          <a:ln w="34925">
            <a:solidFill>
              <a:srgbClr val="6E9ADA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52F0CF5-A77C-9A66-910D-9055A8B6092B}"/>
              </a:ext>
            </a:extLst>
          </p:cNvPr>
          <p:cNvSpPr txBox="1"/>
          <p:nvPr/>
        </p:nvSpPr>
        <p:spPr>
          <a:xfrm>
            <a:off x="2784220" y="6302824"/>
            <a:ext cx="2131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1F4190"/>
                </a:solidFill>
              </a:rPr>
              <a:t>Event Locator Agent</a:t>
            </a:r>
            <a:endParaRPr lang="zh-CN" altLang="en-US" sz="1400" b="1" dirty="0">
              <a:solidFill>
                <a:srgbClr val="1F4190"/>
              </a:solidFill>
            </a:endParaRPr>
          </a:p>
        </p:txBody>
      </p:sp>
      <p:pic>
        <p:nvPicPr>
          <p:cNvPr id="48" name="图形 47" descr="书籍 纯色填充">
            <a:extLst>
              <a:ext uri="{FF2B5EF4-FFF2-40B4-BE49-F238E27FC236}">
                <a16:creationId xmlns:a16="http://schemas.microsoft.com/office/drawing/2014/main" id="{4275EC10-5FC1-70BD-62FD-5A2D6A63A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63356" y="6682047"/>
            <a:ext cx="645995" cy="645995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43DFCF98-099B-F505-C229-82A681E0F52B}"/>
              </a:ext>
            </a:extLst>
          </p:cNvPr>
          <p:cNvSpPr txBox="1"/>
          <p:nvPr/>
        </p:nvSpPr>
        <p:spPr>
          <a:xfrm>
            <a:off x="2684545" y="7406081"/>
            <a:ext cx="199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Locate event-related text spans</a:t>
            </a:r>
            <a:endParaRPr lang="zh-CN" altLang="en-US" sz="1400" dirty="0"/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86E0E54F-7101-3F8B-0A7C-0067B165FAE3}"/>
              </a:ext>
            </a:extLst>
          </p:cNvPr>
          <p:cNvSpPr/>
          <p:nvPr/>
        </p:nvSpPr>
        <p:spPr>
          <a:xfrm>
            <a:off x="4839714" y="6275549"/>
            <a:ext cx="2090753" cy="1715307"/>
          </a:xfrm>
          <a:prstGeom prst="roundRect">
            <a:avLst>
              <a:gd name="adj" fmla="val 5476"/>
            </a:avLst>
          </a:prstGeom>
          <a:solidFill>
            <a:srgbClr val="F5F4FA"/>
          </a:solidFill>
          <a:ln w="34925">
            <a:solidFill>
              <a:srgbClr val="7870A2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7F5FB"/>
              </a:solidFill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1845013-E9A0-BEB3-877D-4EF83524353C}"/>
              </a:ext>
            </a:extLst>
          </p:cNvPr>
          <p:cNvSpPr txBox="1"/>
          <p:nvPr/>
        </p:nvSpPr>
        <p:spPr>
          <a:xfrm>
            <a:off x="4881844" y="6320765"/>
            <a:ext cx="2060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786D9F"/>
                </a:solidFill>
              </a:rPr>
              <a:t>Temporal Info Extractor Agent</a:t>
            </a:r>
            <a:endParaRPr lang="zh-CN" altLang="en-US" sz="1400" b="1" dirty="0">
              <a:solidFill>
                <a:srgbClr val="786D9F"/>
              </a:solidFill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CC65451A-2365-5BC6-458E-FF4860BA0773}"/>
              </a:ext>
            </a:extLst>
          </p:cNvPr>
          <p:cNvSpPr txBox="1"/>
          <p:nvPr/>
        </p:nvSpPr>
        <p:spPr>
          <a:xfrm>
            <a:off x="4759757" y="7421411"/>
            <a:ext cx="231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Extract temporal expressions</a:t>
            </a:r>
            <a:endParaRPr lang="zh-CN" altLang="en-US" sz="1400" dirty="0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119CF814-63A7-69D1-2C83-1AECFB3EC6F2}"/>
              </a:ext>
            </a:extLst>
          </p:cNvPr>
          <p:cNvSpPr/>
          <p:nvPr/>
        </p:nvSpPr>
        <p:spPr>
          <a:xfrm>
            <a:off x="7140686" y="6270953"/>
            <a:ext cx="2090753" cy="1715307"/>
          </a:xfrm>
          <a:prstGeom prst="roundRect">
            <a:avLst>
              <a:gd name="adj" fmla="val 5476"/>
            </a:avLst>
          </a:prstGeom>
          <a:solidFill>
            <a:srgbClr val="F6F9F9"/>
          </a:solidFill>
          <a:ln w="34925">
            <a:solidFill>
              <a:srgbClr val="5E959C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126DD41-7A35-5395-BDBA-E74FF5FB2E6F}"/>
              </a:ext>
            </a:extLst>
          </p:cNvPr>
          <p:cNvSpPr txBox="1"/>
          <p:nvPr/>
        </p:nvSpPr>
        <p:spPr>
          <a:xfrm>
            <a:off x="7136158" y="6318028"/>
            <a:ext cx="2131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267485"/>
                </a:solidFill>
              </a:rPr>
              <a:t>Temporal Relation Reasoner Agent</a:t>
            </a:r>
            <a:endParaRPr lang="zh-CN" altLang="en-US" sz="1600" b="1" dirty="0">
              <a:solidFill>
                <a:srgbClr val="267485"/>
              </a:solidFill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6ECC7FD-11D9-2F98-5EB4-D207D5432DC2}"/>
              </a:ext>
            </a:extLst>
          </p:cNvPr>
          <p:cNvSpPr txBox="1"/>
          <p:nvPr/>
        </p:nvSpPr>
        <p:spPr>
          <a:xfrm>
            <a:off x="7132699" y="7416941"/>
            <a:ext cx="2149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Infer temporal relations among events</a:t>
            </a:r>
            <a:endParaRPr lang="zh-CN" altLang="en-US" sz="1400" dirty="0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FE974B61-4033-461D-BC9D-87F71304BB2F}"/>
              </a:ext>
            </a:extLst>
          </p:cNvPr>
          <p:cNvSpPr/>
          <p:nvPr/>
        </p:nvSpPr>
        <p:spPr>
          <a:xfrm>
            <a:off x="9465421" y="6275549"/>
            <a:ext cx="1796074" cy="1715307"/>
          </a:xfrm>
          <a:prstGeom prst="roundRect">
            <a:avLst>
              <a:gd name="adj" fmla="val 5476"/>
            </a:avLst>
          </a:prstGeom>
          <a:solidFill>
            <a:srgbClr val="FFFFFF"/>
          </a:solidFill>
          <a:ln w="34925">
            <a:solidFill>
              <a:srgbClr val="B2C6A4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0" name="图形 119" descr="日程表 纯色填充">
            <a:extLst>
              <a:ext uri="{FF2B5EF4-FFF2-40B4-BE49-F238E27FC236}">
                <a16:creationId xmlns:a16="http://schemas.microsoft.com/office/drawing/2014/main" id="{87D63AC0-0748-5183-E3A5-D7A8AAADE2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1254" y="6734534"/>
            <a:ext cx="730434" cy="730434"/>
          </a:xfrm>
          <a:prstGeom prst="rect">
            <a:avLst/>
          </a:prstGeom>
        </p:spPr>
      </p:pic>
      <p:sp>
        <p:nvSpPr>
          <p:cNvPr id="131" name="流程图: 接点 130">
            <a:extLst>
              <a:ext uri="{FF2B5EF4-FFF2-40B4-BE49-F238E27FC236}">
                <a16:creationId xmlns:a16="http://schemas.microsoft.com/office/drawing/2014/main" id="{7FC7242C-55A3-68D8-0230-2901CF9FB4E5}"/>
              </a:ext>
            </a:extLst>
          </p:cNvPr>
          <p:cNvSpPr/>
          <p:nvPr/>
        </p:nvSpPr>
        <p:spPr>
          <a:xfrm>
            <a:off x="7747370" y="6965118"/>
            <a:ext cx="97971" cy="97971"/>
          </a:xfrm>
          <a:prstGeom prst="flowChartConnector">
            <a:avLst/>
          </a:prstGeom>
          <a:solidFill>
            <a:srgbClr val="607B2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流程图: 接点 132">
            <a:extLst>
              <a:ext uri="{FF2B5EF4-FFF2-40B4-BE49-F238E27FC236}">
                <a16:creationId xmlns:a16="http://schemas.microsoft.com/office/drawing/2014/main" id="{D5B88CF1-ED26-5C45-2F90-16C189620542}"/>
              </a:ext>
            </a:extLst>
          </p:cNvPr>
          <p:cNvSpPr/>
          <p:nvPr/>
        </p:nvSpPr>
        <p:spPr>
          <a:xfrm>
            <a:off x="8267196" y="6968058"/>
            <a:ext cx="97971" cy="97971"/>
          </a:xfrm>
          <a:prstGeom prst="flowChartConnector">
            <a:avLst/>
          </a:prstGeom>
          <a:solidFill>
            <a:srgbClr val="147BE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6028356-D416-0574-115D-B445A595E6BD}"/>
              </a:ext>
            </a:extLst>
          </p:cNvPr>
          <p:cNvSpPr/>
          <p:nvPr/>
        </p:nvSpPr>
        <p:spPr>
          <a:xfrm>
            <a:off x="8006561" y="6968059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F2F813D7-88B0-08EA-D5A7-43CBF1EF88D9}"/>
              </a:ext>
            </a:extLst>
          </p:cNvPr>
          <p:cNvSpPr/>
          <p:nvPr/>
        </p:nvSpPr>
        <p:spPr>
          <a:xfrm>
            <a:off x="8267193" y="7239705"/>
            <a:ext cx="92531" cy="97971"/>
          </a:xfrm>
          <a:prstGeom prst="rect">
            <a:avLst/>
          </a:prstGeom>
          <a:solidFill>
            <a:srgbClr val="F6CB04"/>
          </a:solidFill>
          <a:ln>
            <a:solidFill>
              <a:srgbClr val="E6BE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B3AE88F-1214-D9C4-2365-CEB843EDF4C8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8052827" y="7066030"/>
            <a:ext cx="2146" cy="147102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AB32890E-5ADC-3A88-F617-BEBA2CBB1F91}"/>
              </a:ext>
            </a:extLst>
          </p:cNvPr>
          <p:cNvCxnSpPr>
            <a:cxnSpLocks/>
            <a:stCxn id="134" idx="3"/>
            <a:endCxn id="133" idx="2"/>
          </p:cNvCxnSpPr>
          <p:nvPr/>
        </p:nvCxnSpPr>
        <p:spPr>
          <a:xfrm flipV="1">
            <a:off x="8099092" y="7017044"/>
            <a:ext cx="168104" cy="1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流程图: 接点 140">
            <a:extLst>
              <a:ext uri="{FF2B5EF4-FFF2-40B4-BE49-F238E27FC236}">
                <a16:creationId xmlns:a16="http://schemas.microsoft.com/office/drawing/2014/main" id="{71A6361E-2C57-49AD-5494-E25E31B920A1}"/>
              </a:ext>
            </a:extLst>
          </p:cNvPr>
          <p:cNvSpPr/>
          <p:nvPr/>
        </p:nvSpPr>
        <p:spPr>
          <a:xfrm>
            <a:off x="8006426" y="7240381"/>
            <a:ext cx="97971" cy="97971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DD742EF8-3576-779A-637F-878DD03B3BD7}"/>
              </a:ext>
            </a:extLst>
          </p:cNvPr>
          <p:cNvCxnSpPr>
            <a:cxnSpLocks/>
          </p:cNvCxnSpPr>
          <p:nvPr/>
        </p:nvCxnSpPr>
        <p:spPr>
          <a:xfrm flipV="1">
            <a:off x="7838415" y="7014102"/>
            <a:ext cx="168104" cy="1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D42080DE-F71B-3843-A0C7-0F0E911FC86C}"/>
              </a:ext>
            </a:extLst>
          </p:cNvPr>
          <p:cNvCxnSpPr>
            <a:cxnSpLocks/>
          </p:cNvCxnSpPr>
          <p:nvPr/>
        </p:nvCxnSpPr>
        <p:spPr>
          <a:xfrm flipV="1">
            <a:off x="8085739" y="7289452"/>
            <a:ext cx="168104" cy="1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B42108A6-EBD5-B114-5A68-B3174739F81D}"/>
              </a:ext>
            </a:extLst>
          </p:cNvPr>
          <p:cNvCxnSpPr>
            <a:cxnSpLocks/>
          </p:cNvCxnSpPr>
          <p:nvPr/>
        </p:nvCxnSpPr>
        <p:spPr>
          <a:xfrm flipV="1">
            <a:off x="8366038" y="7014102"/>
            <a:ext cx="355420" cy="294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6C50A61C-53CC-C59F-9A03-CF078E9E14CA}"/>
              </a:ext>
            </a:extLst>
          </p:cNvPr>
          <p:cNvCxnSpPr>
            <a:cxnSpLocks/>
          </p:cNvCxnSpPr>
          <p:nvPr/>
        </p:nvCxnSpPr>
        <p:spPr>
          <a:xfrm flipV="1">
            <a:off x="8366038" y="7291170"/>
            <a:ext cx="355420" cy="2943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C839AFA0-6A43-9399-9768-F70F354084D8}"/>
              </a:ext>
            </a:extLst>
          </p:cNvPr>
          <p:cNvSpPr/>
          <p:nvPr/>
        </p:nvSpPr>
        <p:spPr>
          <a:xfrm>
            <a:off x="9696839" y="7104461"/>
            <a:ext cx="223807" cy="229308"/>
          </a:xfrm>
          <a:prstGeom prst="rect">
            <a:avLst/>
          </a:prstGeom>
          <a:solidFill>
            <a:srgbClr val="F6CB04"/>
          </a:solidFill>
          <a:ln>
            <a:solidFill>
              <a:srgbClr val="6D57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45B1B8B-2064-1286-8C05-342EDBE9AEF6}"/>
              </a:ext>
            </a:extLst>
          </p:cNvPr>
          <p:cNvSpPr/>
          <p:nvPr/>
        </p:nvSpPr>
        <p:spPr>
          <a:xfrm>
            <a:off x="10098232" y="7104461"/>
            <a:ext cx="223807" cy="229308"/>
          </a:xfrm>
          <a:prstGeom prst="rect">
            <a:avLst/>
          </a:prstGeom>
          <a:solidFill>
            <a:srgbClr val="BFD6ED"/>
          </a:solidFill>
          <a:ln>
            <a:solidFill>
              <a:srgbClr val="547C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1805EA6-0EA3-6709-4CC0-825588B41E37}"/>
              </a:ext>
            </a:extLst>
          </p:cNvPr>
          <p:cNvSpPr/>
          <p:nvPr/>
        </p:nvSpPr>
        <p:spPr>
          <a:xfrm>
            <a:off x="10808157" y="7102104"/>
            <a:ext cx="223807" cy="241663"/>
          </a:xfrm>
          <a:prstGeom prst="rect">
            <a:avLst/>
          </a:prstGeom>
          <a:solidFill>
            <a:srgbClr val="EDD4A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4422D8EC-81FD-8F16-E66D-B6116C1F6DF3}"/>
              </a:ext>
            </a:extLst>
          </p:cNvPr>
          <p:cNvSpPr txBox="1"/>
          <p:nvPr/>
        </p:nvSpPr>
        <p:spPr>
          <a:xfrm>
            <a:off x="10419560" y="6987459"/>
            <a:ext cx="282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1FE4CFD4-7C83-F6BF-D371-E4CB45A2BF36}"/>
              </a:ext>
            </a:extLst>
          </p:cNvPr>
          <p:cNvCxnSpPr>
            <a:cxnSpLocks/>
            <a:stCxn id="153" idx="3"/>
            <a:endCxn id="154" idx="1"/>
          </p:cNvCxnSpPr>
          <p:nvPr/>
        </p:nvCxnSpPr>
        <p:spPr>
          <a:xfrm>
            <a:off x="9920646" y="7219115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55609EB8-777E-CFA5-F187-B75EF85B4373}"/>
              </a:ext>
            </a:extLst>
          </p:cNvPr>
          <p:cNvCxnSpPr>
            <a:cxnSpLocks/>
          </p:cNvCxnSpPr>
          <p:nvPr/>
        </p:nvCxnSpPr>
        <p:spPr>
          <a:xfrm>
            <a:off x="10295061" y="7219115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矩形 162">
            <a:extLst>
              <a:ext uri="{FF2B5EF4-FFF2-40B4-BE49-F238E27FC236}">
                <a16:creationId xmlns:a16="http://schemas.microsoft.com/office/drawing/2014/main" id="{00695BA0-07EB-C724-C5AB-B3069F17A4BD}"/>
              </a:ext>
            </a:extLst>
          </p:cNvPr>
          <p:cNvSpPr/>
          <p:nvPr/>
        </p:nvSpPr>
        <p:spPr>
          <a:xfrm>
            <a:off x="10810025" y="7611900"/>
            <a:ext cx="223807" cy="229308"/>
          </a:xfrm>
          <a:prstGeom prst="rect">
            <a:avLst/>
          </a:prstGeom>
          <a:solidFill>
            <a:srgbClr val="F6CB04"/>
          </a:solidFill>
          <a:ln>
            <a:solidFill>
              <a:srgbClr val="6D57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9761D7B3-BA63-6893-3EE5-752A935D24E3}"/>
              </a:ext>
            </a:extLst>
          </p:cNvPr>
          <p:cNvCxnSpPr>
            <a:cxnSpLocks/>
          </p:cNvCxnSpPr>
          <p:nvPr/>
        </p:nvCxnSpPr>
        <p:spPr>
          <a:xfrm>
            <a:off x="10302746" y="7739114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768C1B98-D1DE-8B47-6B9E-199F6F72D772}"/>
              </a:ext>
            </a:extLst>
          </p:cNvPr>
          <p:cNvCxnSpPr>
            <a:cxnSpLocks/>
          </p:cNvCxnSpPr>
          <p:nvPr/>
        </p:nvCxnSpPr>
        <p:spPr>
          <a:xfrm>
            <a:off x="9924997" y="7737277"/>
            <a:ext cx="17758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043C39BB-D45C-36BF-68CB-AB11F35258A9}"/>
              </a:ext>
            </a:extLst>
          </p:cNvPr>
          <p:cNvSpPr txBox="1"/>
          <p:nvPr/>
        </p:nvSpPr>
        <p:spPr>
          <a:xfrm>
            <a:off x="10432621" y="7505633"/>
            <a:ext cx="282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92D85B36-82A7-BF08-8307-C242178ABBE0}"/>
              </a:ext>
            </a:extLst>
          </p:cNvPr>
          <p:cNvCxnSpPr>
            <a:stCxn id="153" idx="2"/>
            <a:endCxn id="163" idx="0"/>
          </p:cNvCxnSpPr>
          <p:nvPr/>
        </p:nvCxnSpPr>
        <p:spPr>
          <a:xfrm rot="16200000" flipH="1">
            <a:off x="10226271" y="6916241"/>
            <a:ext cx="278131" cy="1113186"/>
          </a:xfrm>
          <a:prstGeom prst="bentConnector3">
            <a:avLst>
              <a:gd name="adj1" fmla="val 62524"/>
            </a:avLst>
          </a:prstGeom>
          <a:ln cap="rnd">
            <a:solidFill>
              <a:schemeClr val="tx1"/>
            </a:solidFill>
            <a:prstDash val="sysDash"/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04E197EA-D314-91F2-71C1-41BDA2CE5A61}"/>
              </a:ext>
            </a:extLst>
          </p:cNvPr>
          <p:cNvCxnSpPr>
            <a:cxnSpLocks/>
            <a:stCxn id="155" idx="2"/>
          </p:cNvCxnSpPr>
          <p:nvPr/>
        </p:nvCxnSpPr>
        <p:spPr>
          <a:xfrm rot="5400000">
            <a:off x="10428595" y="7132993"/>
            <a:ext cx="280693" cy="702240"/>
          </a:xfrm>
          <a:prstGeom prst="bentConnector3">
            <a:avLst>
              <a:gd name="adj1" fmla="val 28282"/>
            </a:avLst>
          </a:prstGeom>
          <a:ln cap="rnd">
            <a:solidFill>
              <a:schemeClr val="tx1"/>
            </a:solidFill>
            <a:prstDash val="sysDash"/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C15A5C11-CEC1-879F-62E5-C1B3C138FEA3}"/>
              </a:ext>
            </a:extLst>
          </p:cNvPr>
          <p:cNvSpPr/>
          <p:nvPr/>
        </p:nvSpPr>
        <p:spPr>
          <a:xfrm>
            <a:off x="10101000" y="7633827"/>
            <a:ext cx="223807" cy="241663"/>
          </a:xfrm>
          <a:prstGeom prst="rect">
            <a:avLst/>
          </a:prstGeom>
          <a:solidFill>
            <a:srgbClr val="EDD4A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6C5571A8-5C6C-3C6F-3D7C-C1D0BA31D188}"/>
              </a:ext>
            </a:extLst>
          </p:cNvPr>
          <p:cNvSpPr/>
          <p:nvPr/>
        </p:nvSpPr>
        <p:spPr>
          <a:xfrm>
            <a:off x="9696839" y="7644098"/>
            <a:ext cx="223807" cy="229308"/>
          </a:xfrm>
          <a:prstGeom prst="rect">
            <a:avLst/>
          </a:prstGeom>
          <a:solidFill>
            <a:srgbClr val="BFD6ED"/>
          </a:solidFill>
          <a:ln>
            <a:solidFill>
              <a:srgbClr val="547C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E95F2A89-1630-9D6D-3058-3FEDF2283745}"/>
              </a:ext>
            </a:extLst>
          </p:cNvPr>
          <p:cNvCxnSpPr>
            <a:cxnSpLocks/>
            <a:stCxn id="154" idx="2"/>
            <a:endCxn id="180" idx="0"/>
          </p:cNvCxnSpPr>
          <p:nvPr/>
        </p:nvCxnSpPr>
        <p:spPr>
          <a:xfrm rot="5400000">
            <a:off x="9854276" y="7288237"/>
            <a:ext cx="310329" cy="401393"/>
          </a:xfrm>
          <a:prstGeom prst="bentConnector3">
            <a:avLst>
              <a:gd name="adj1" fmla="val 41581"/>
            </a:avLst>
          </a:prstGeom>
          <a:ln cap="rnd">
            <a:solidFill>
              <a:schemeClr val="tx1"/>
            </a:solidFill>
            <a:prstDash val="sysDash"/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2A70B494-9765-84EA-2A86-6A200D9F8964}"/>
              </a:ext>
            </a:extLst>
          </p:cNvPr>
          <p:cNvSpPr txBox="1"/>
          <p:nvPr/>
        </p:nvSpPr>
        <p:spPr>
          <a:xfrm>
            <a:off x="9516645" y="6326065"/>
            <a:ext cx="1694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216C29"/>
                </a:solidFill>
              </a:rPr>
              <a:t>Temporal Ordering of Event Chains</a:t>
            </a:r>
            <a:endParaRPr lang="zh-CN" altLang="en-US" sz="1400" b="1" dirty="0">
              <a:solidFill>
                <a:srgbClr val="216C29"/>
              </a:solidFill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C9CBAAE6-8425-5A3A-8EE1-AC64D5D5AA68}"/>
              </a:ext>
            </a:extLst>
          </p:cNvPr>
          <p:cNvSpPr txBox="1"/>
          <p:nvPr/>
        </p:nvSpPr>
        <p:spPr>
          <a:xfrm>
            <a:off x="9625563" y="6775415"/>
            <a:ext cx="668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Time</a:t>
            </a:r>
            <a:endParaRPr lang="zh-CN" altLang="en-US" sz="1400" b="1" dirty="0"/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D0515B77-2F08-E2FB-16D5-CBF85260EA1B}"/>
              </a:ext>
            </a:extLst>
          </p:cNvPr>
          <p:cNvCxnSpPr>
            <a:cxnSpLocks/>
          </p:cNvCxnSpPr>
          <p:nvPr/>
        </p:nvCxnSpPr>
        <p:spPr>
          <a:xfrm>
            <a:off x="10157982" y="6943914"/>
            <a:ext cx="887635" cy="0"/>
          </a:xfrm>
          <a:prstGeom prst="line">
            <a:avLst/>
          </a:prstGeom>
          <a:ln w="15875">
            <a:solidFill>
              <a:schemeClr val="tx1"/>
            </a:solidFill>
            <a:headEnd w="med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EAD90033-8041-A1E9-C633-0678991980ED}"/>
              </a:ext>
            </a:extLst>
          </p:cNvPr>
          <p:cNvCxnSpPr>
            <a:cxnSpLocks/>
          </p:cNvCxnSpPr>
          <p:nvPr/>
        </p:nvCxnSpPr>
        <p:spPr>
          <a:xfrm flipV="1">
            <a:off x="2270113" y="4242534"/>
            <a:ext cx="697499" cy="2061"/>
          </a:xfrm>
          <a:prstGeom prst="straightConnector1">
            <a:avLst/>
          </a:prstGeom>
          <a:ln w="25400">
            <a:solidFill>
              <a:srgbClr val="1A6224"/>
            </a:solidFill>
            <a:prstDash val="dash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连接符: 肘形 209">
            <a:extLst>
              <a:ext uri="{FF2B5EF4-FFF2-40B4-BE49-F238E27FC236}">
                <a16:creationId xmlns:a16="http://schemas.microsoft.com/office/drawing/2014/main" id="{38C14AF3-E814-2840-349F-FF3C74CF8DA6}"/>
              </a:ext>
            </a:extLst>
          </p:cNvPr>
          <p:cNvCxnSpPr/>
          <p:nvPr/>
        </p:nvCxnSpPr>
        <p:spPr>
          <a:xfrm rot="5400000" flipH="1" flipV="1">
            <a:off x="1984413" y="4510870"/>
            <a:ext cx="850528" cy="313856"/>
          </a:xfrm>
          <a:prstGeom prst="bentConnector3">
            <a:avLst>
              <a:gd name="adj1" fmla="val -1195"/>
            </a:avLst>
          </a:prstGeom>
          <a:ln w="25400">
            <a:solidFill>
              <a:srgbClr val="1A6224"/>
            </a:solidFill>
            <a:prstDash val="dash"/>
            <a:tailEnd type="non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连接符: 肘形 212">
            <a:extLst>
              <a:ext uri="{FF2B5EF4-FFF2-40B4-BE49-F238E27FC236}">
                <a16:creationId xmlns:a16="http://schemas.microsoft.com/office/drawing/2014/main" id="{EAB41609-9BE7-8AC8-2D58-0BD080920B27}"/>
              </a:ext>
            </a:extLst>
          </p:cNvPr>
          <p:cNvCxnSpPr/>
          <p:nvPr/>
        </p:nvCxnSpPr>
        <p:spPr>
          <a:xfrm rot="5400000" flipH="1" flipV="1">
            <a:off x="1989129" y="5360615"/>
            <a:ext cx="850528" cy="313856"/>
          </a:xfrm>
          <a:prstGeom prst="bentConnector3">
            <a:avLst>
              <a:gd name="adj1" fmla="val -1195"/>
            </a:avLst>
          </a:prstGeom>
          <a:ln w="25400">
            <a:solidFill>
              <a:srgbClr val="1A6224"/>
            </a:solidFill>
            <a:prstDash val="dash"/>
            <a:tailEnd type="non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C5929A6A-2DFD-EB43-1C8D-624E6BD3C87D}"/>
              </a:ext>
            </a:extLst>
          </p:cNvPr>
          <p:cNvCxnSpPr>
            <a:cxnSpLocks/>
            <a:stCxn id="87" idx="3"/>
            <a:endCxn id="110" idx="1"/>
          </p:cNvCxnSpPr>
          <p:nvPr/>
        </p:nvCxnSpPr>
        <p:spPr>
          <a:xfrm>
            <a:off x="4606705" y="7128607"/>
            <a:ext cx="233009" cy="4596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2B558964-7231-5201-7416-753389E4E91F}"/>
              </a:ext>
            </a:extLst>
          </p:cNvPr>
          <p:cNvCxnSpPr>
            <a:cxnSpLocks/>
          </p:cNvCxnSpPr>
          <p:nvPr/>
        </p:nvCxnSpPr>
        <p:spPr>
          <a:xfrm>
            <a:off x="6903683" y="7128607"/>
            <a:ext cx="233009" cy="4596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60FEEC9C-8C58-6E70-3D3F-9CA0E12B1095}"/>
              </a:ext>
            </a:extLst>
          </p:cNvPr>
          <p:cNvCxnSpPr>
            <a:cxnSpLocks/>
          </p:cNvCxnSpPr>
          <p:nvPr/>
        </p:nvCxnSpPr>
        <p:spPr>
          <a:xfrm>
            <a:off x="9226788" y="7128607"/>
            <a:ext cx="233009" cy="4596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连接符: 肘形 219">
            <a:extLst>
              <a:ext uri="{FF2B5EF4-FFF2-40B4-BE49-F238E27FC236}">
                <a16:creationId xmlns:a16="http://schemas.microsoft.com/office/drawing/2014/main" id="{E00D891F-CE4D-0500-EE76-585ADFDF2AD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78387" y="6455623"/>
            <a:ext cx="1175302" cy="188083"/>
          </a:xfrm>
          <a:prstGeom prst="bentConnector2">
            <a:avLst/>
          </a:prstGeom>
          <a:ln w="25400">
            <a:solidFill>
              <a:srgbClr val="1A6224"/>
            </a:solidFill>
            <a:prstDash val="dash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E2B2C5A6-7049-DF3F-6ED7-E84B3DE855E8}"/>
              </a:ext>
            </a:extLst>
          </p:cNvPr>
          <p:cNvCxnSpPr>
            <a:cxnSpLocks/>
          </p:cNvCxnSpPr>
          <p:nvPr/>
        </p:nvCxnSpPr>
        <p:spPr>
          <a:xfrm>
            <a:off x="3683866" y="5962014"/>
            <a:ext cx="0" cy="273958"/>
          </a:xfrm>
          <a:prstGeom prst="straightConnector1">
            <a:avLst/>
          </a:prstGeom>
          <a:ln w="25400">
            <a:solidFill>
              <a:srgbClr val="1A6224"/>
            </a:solidFill>
            <a:prstDash val="soli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B3BF51AB-C179-8FFE-D862-F9C9A87BA0FA}"/>
              </a:ext>
            </a:extLst>
          </p:cNvPr>
          <p:cNvCxnSpPr>
            <a:stCxn id="131" idx="4"/>
            <a:endCxn id="141" idx="2"/>
          </p:cNvCxnSpPr>
          <p:nvPr/>
        </p:nvCxnSpPr>
        <p:spPr>
          <a:xfrm rot="16200000" flipH="1">
            <a:off x="7788252" y="7071193"/>
            <a:ext cx="226278" cy="210070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headEnd w="sm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34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E26319-D10A-24B0-2B99-C5B6A0A807EB}"/>
              </a:ext>
            </a:extLst>
          </p:cNvPr>
          <p:cNvSpPr/>
          <p:nvPr/>
        </p:nvSpPr>
        <p:spPr>
          <a:xfrm>
            <a:off x="1188441" y="2264212"/>
            <a:ext cx="4969078" cy="3662783"/>
          </a:xfrm>
          <a:prstGeom prst="roundRect">
            <a:avLst>
              <a:gd name="adj" fmla="val 3320"/>
            </a:avLst>
          </a:prstGeom>
          <a:solidFill>
            <a:srgbClr val="FEF9F8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E6A11F-1525-684E-2D47-F5956B954E33}"/>
              </a:ext>
            </a:extLst>
          </p:cNvPr>
          <p:cNvSpPr/>
          <p:nvPr/>
        </p:nvSpPr>
        <p:spPr>
          <a:xfrm>
            <a:off x="1460033" y="4957532"/>
            <a:ext cx="4430785" cy="692214"/>
          </a:xfrm>
          <a:prstGeom prst="roundRect">
            <a:avLst>
              <a:gd name="adj" fmla="val 9488"/>
            </a:avLst>
          </a:prstGeom>
          <a:solidFill>
            <a:srgbClr val="FBE8E5"/>
          </a:solidFill>
          <a:ln w="25400">
            <a:solidFill>
              <a:srgbClr val="DFB4B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FFA42FD-9807-1E08-EC5D-5F8ED3B5DE9B}"/>
              </a:ext>
            </a:extLst>
          </p:cNvPr>
          <p:cNvSpPr/>
          <p:nvPr/>
        </p:nvSpPr>
        <p:spPr>
          <a:xfrm>
            <a:off x="1493240" y="2906298"/>
            <a:ext cx="4364372" cy="1603120"/>
          </a:xfrm>
          <a:prstGeom prst="roundRect">
            <a:avLst>
              <a:gd name="adj" fmla="val 9488"/>
            </a:avLst>
          </a:prstGeom>
          <a:noFill/>
          <a:ln w="31750">
            <a:solidFill>
              <a:srgbClr val="DFB4B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6799E3-D44C-F90D-DF0C-737CAD55E871}"/>
              </a:ext>
            </a:extLst>
          </p:cNvPr>
          <p:cNvSpPr txBox="1"/>
          <p:nvPr/>
        </p:nvSpPr>
        <p:spPr>
          <a:xfrm>
            <a:off x="2017551" y="2264212"/>
            <a:ext cx="3397541" cy="53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/>
              <a:t>Baseline (BERT+CRF)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B32CF5-835D-59CC-9B41-1A7A998BE510}"/>
              </a:ext>
            </a:extLst>
          </p:cNvPr>
          <p:cNvSpPr txBox="1"/>
          <p:nvPr/>
        </p:nvSpPr>
        <p:spPr>
          <a:xfrm>
            <a:off x="1661020" y="3092058"/>
            <a:ext cx="4110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Ministry of National established a </a:t>
            </a:r>
            <a:r>
              <a:rPr lang="en-US" altLang="zh-CN" b="1" dirty="0"/>
              <a:t>[military base]</a:t>
            </a:r>
            <a:r>
              <a:rPr lang="en-US" altLang="zh-CN" dirty="0"/>
              <a:t> at the southeastern coast of the </a:t>
            </a:r>
            <a:r>
              <a:rPr lang="en-US" altLang="zh-CN" b="1" dirty="0"/>
              <a:t>[Crimea Peninsula]</a:t>
            </a:r>
            <a:r>
              <a:rPr lang="en-US" altLang="zh-CN" dirty="0"/>
              <a:t> for the </a:t>
            </a:r>
            <a:r>
              <a:rPr lang="en-US" altLang="zh-CN" b="1" dirty="0"/>
              <a:t>[S-400]</a:t>
            </a:r>
            <a:r>
              <a:rPr lang="en-US" altLang="zh-CN" dirty="0"/>
              <a:t> anti-aircraft missile system.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354735F-5060-E23B-B638-D7F4C6C3AC46}"/>
              </a:ext>
            </a:extLst>
          </p:cNvPr>
          <p:cNvCxnSpPr>
            <a:cxnSpLocks/>
          </p:cNvCxnSpPr>
          <p:nvPr/>
        </p:nvCxnSpPr>
        <p:spPr>
          <a:xfrm>
            <a:off x="3675426" y="4610086"/>
            <a:ext cx="0" cy="276837"/>
          </a:xfrm>
          <a:prstGeom prst="straightConnector1">
            <a:avLst/>
          </a:prstGeom>
          <a:ln w="31750">
            <a:solidFill>
              <a:srgbClr val="9D2021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BE249EC-D000-ADB1-1282-31A93D027FDB}"/>
              </a:ext>
            </a:extLst>
          </p:cNvPr>
          <p:cNvSpPr txBox="1"/>
          <p:nvPr/>
        </p:nvSpPr>
        <p:spPr>
          <a:xfrm>
            <a:off x="1580101" y="5134360"/>
            <a:ext cx="418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military base / Crimea Peninsula / S-400 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6C982CC-26F9-E211-E0FF-1EC73F7FD254}"/>
              </a:ext>
            </a:extLst>
          </p:cNvPr>
          <p:cNvSpPr/>
          <p:nvPr/>
        </p:nvSpPr>
        <p:spPr>
          <a:xfrm>
            <a:off x="6462318" y="2264212"/>
            <a:ext cx="4969078" cy="3630618"/>
          </a:xfrm>
          <a:prstGeom prst="roundRect">
            <a:avLst>
              <a:gd name="adj" fmla="val 3848"/>
            </a:avLst>
          </a:prstGeom>
          <a:solidFill>
            <a:srgbClr val="F2FAF0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7F9CE60-4575-2D52-A412-7FE52DF5D7BF}"/>
              </a:ext>
            </a:extLst>
          </p:cNvPr>
          <p:cNvSpPr/>
          <p:nvPr/>
        </p:nvSpPr>
        <p:spPr>
          <a:xfrm>
            <a:off x="6733910" y="4729345"/>
            <a:ext cx="4430785" cy="996482"/>
          </a:xfrm>
          <a:prstGeom prst="roundRect">
            <a:avLst>
              <a:gd name="adj" fmla="val 9488"/>
            </a:avLst>
          </a:prstGeom>
          <a:solidFill>
            <a:srgbClr val="E1F2DA"/>
          </a:solidFill>
          <a:ln w="25400">
            <a:solidFill>
              <a:srgbClr val="759F7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BFC5848-E1A4-7A95-5E9C-9BDC07858BD5}"/>
              </a:ext>
            </a:extLst>
          </p:cNvPr>
          <p:cNvSpPr/>
          <p:nvPr/>
        </p:nvSpPr>
        <p:spPr>
          <a:xfrm>
            <a:off x="6767117" y="2759994"/>
            <a:ext cx="4364372" cy="1603120"/>
          </a:xfrm>
          <a:prstGeom prst="roundRect">
            <a:avLst>
              <a:gd name="adj" fmla="val 9488"/>
            </a:avLst>
          </a:prstGeom>
          <a:noFill/>
          <a:ln w="31750">
            <a:solidFill>
              <a:srgbClr val="759F70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C1C9FD-3898-3561-B751-472493A16013}"/>
              </a:ext>
            </a:extLst>
          </p:cNvPr>
          <p:cNvSpPr txBox="1"/>
          <p:nvPr/>
        </p:nvSpPr>
        <p:spPr>
          <a:xfrm>
            <a:off x="7291428" y="2204993"/>
            <a:ext cx="3397541" cy="53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/>
              <a:t>Ours (Full)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C19994-64DC-6964-662D-8BAC02AF3E4A}"/>
              </a:ext>
            </a:extLst>
          </p:cNvPr>
          <p:cNvSpPr txBox="1"/>
          <p:nvPr/>
        </p:nvSpPr>
        <p:spPr>
          <a:xfrm>
            <a:off x="6934897" y="2945754"/>
            <a:ext cx="4110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Ministry of National established a </a:t>
            </a:r>
            <a:r>
              <a:rPr lang="en-US" altLang="zh-CN" b="1" dirty="0"/>
              <a:t>[military base at the southeastern coast of the Crimea Peninsula]</a:t>
            </a:r>
            <a:r>
              <a:rPr lang="en-US" altLang="zh-CN" dirty="0"/>
              <a:t> for the </a:t>
            </a:r>
            <a:r>
              <a:rPr lang="en-US" altLang="zh-CN" b="1" dirty="0"/>
              <a:t>[S-400 anti-aircraft missile system]</a:t>
            </a:r>
            <a:r>
              <a:rPr lang="en-US" altLang="zh-CN" dirty="0"/>
              <a:t>.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7A40072-4099-5E77-0E76-81B9466BA65A}"/>
              </a:ext>
            </a:extLst>
          </p:cNvPr>
          <p:cNvCxnSpPr>
            <a:cxnSpLocks/>
          </p:cNvCxnSpPr>
          <p:nvPr/>
        </p:nvCxnSpPr>
        <p:spPr>
          <a:xfrm>
            <a:off x="8949303" y="4463782"/>
            <a:ext cx="0" cy="276837"/>
          </a:xfrm>
          <a:prstGeom prst="straightConnector1">
            <a:avLst/>
          </a:prstGeom>
          <a:ln w="31750">
            <a:solidFill>
              <a:srgbClr val="408138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5B28CF7-5651-2EF9-AF41-72B7730D67EF}"/>
              </a:ext>
            </a:extLst>
          </p:cNvPr>
          <p:cNvSpPr txBox="1"/>
          <p:nvPr/>
        </p:nvSpPr>
        <p:spPr>
          <a:xfrm>
            <a:off x="6934897" y="4802497"/>
            <a:ext cx="41106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military base at the southeastern coast of the Crimea Peninsula / S-400 anti-aircraft missile system</a:t>
            </a:r>
            <a:endParaRPr lang="zh-CN" altLang="en-US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5E6EADD2-E585-5E52-76EF-52EC715C4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180175"/>
              </p:ext>
            </p:extLst>
          </p:nvPr>
        </p:nvGraphicFramePr>
        <p:xfrm>
          <a:off x="1188441" y="6073760"/>
          <a:ext cx="10242954" cy="1341204"/>
        </p:xfrm>
        <a:graphic>
          <a:graphicData uri="http://schemas.openxmlformats.org/drawingml/2006/table">
            <a:tbl>
              <a:tblPr/>
              <a:tblGrid>
                <a:gridCol w="3414318">
                  <a:extLst>
                    <a:ext uri="{9D8B030D-6E8A-4147-A177-3AD203B41FA5}">
                      <a16:colId xmlns:a16="http://schemas.microsoft.com/office/drawing/2014/main" val="2919421121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01021352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474343106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Output Coverage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Boundary Type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84669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BERT+CRF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short / fuzzy output</a:t>
                      </a: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 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Fuzzy Boundary</a:t>
                      </a: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62093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Ours (Full)</a:t>
                      </a:r>
                      <a:endParaRPr lang="en-US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full / long output</a:t>
                      </a:r>
                      <a:endParaRPr lang="en-US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✅ </a:t>
                      </a:r>
                      <a:r>
                        <a:rPr lang="en-US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Accurate Boundary</a:t>
                      </a:r>
                      <a:endParaRPr lang="en-US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57"/>
                  </a:ext>
                </a:extLst>
              </a:tr>
            </a:tbl>
          </a:graphicData>
        </a:graphic>
      </p:graphicFrame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C161C12-BCBB-0BF5-87C0-236958C5EA1E}"/>
              </a:ext>
            </a:extLst>
          </p:cNvPr>
          <p:cNvSpPr/>
          <p:nvPr/>
        </p:nvSpPr>
        <p:spPr>
          <a:xfrm>
            <a:off x="921740" y="2090056"/>
            <a:ext cx="10756454" cy="5504543"/>
          </a:xfrm>
          <a:prstGeom prst="roundRect">
            <a:avLst>
              <a:gd name="adj" fmla="val 3078"/>
            </a:avLst>
          </a:prstGeom>
          <a:noFill/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219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31C6-FF04-1BDF-FC7A-73565CA4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B9B738-2F8A-1F08-70F6-496B7E2D0AD2}"/>
              </a:ext>
            </a:extLst>
          </p:cNvPr>
          <p:cNvSpPr/>
          <p:nvPr/>
        </p:nvSpPr>
        <p:spPr>
          <a:xfrm>
            <a:off x="1148162" y="2323463"/>
            <a:ext cx="4969078" cy="2107474"/>
          </a:xfrm>
          <a:prstGeom prst="roundRect">
            <a:avLst>
              <a:gd name="adj" fmla="val 3849"/>
            </a:avLst>
          </a:prstGeom>
          <a:solidFill>
            <a:srgbClr val="FEF9F8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6F70F3-63D9-1462-709C-BFA591544B03}"/>
              </a:ext>
            </a:extLst>
          </p:cNvPr>
          <p:cNvSpPr txBox="1"/>
          <p:nvPr/>
        </p:nvSpPr>
        <p:spPr>
          <a:xfrm>
            <a:off x="1804720" y="2247898"/>
            <a:ext cx="3655961" cy="53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>
                <a:solidFill>
                  <a:srgbClr val="631716"/>
                </a:solidFill>
              </a:rPr>
              <a:t>Baseline (Text Position Only)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C612916-27BF-B0F8-E1AA-CB132C7BE97B}"/>
              </a:ext>
            </a:extLst>
          </p:cNvPr>
          <p:cNvCxnSpPr>
            <a:cxnSpLocks/>
          </p:cNvCxnSpPr>
          <p:nvPr/>
        </p:nvCxnSpPr>
        <p:spPr>
          <a:xfrm>
            <a:off x="2526485" y="3446069"/>
            <a:ext cx="443152" cy="3031"/>
          </a:xfrm>
          <a:prstGeom prst="straightConnector1">
            <a:avLst/>
          </a:prstGeom>
          <a:ln w="31750">
            <a:solidFill>
              <a:srgbClr val="9D2021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A4596000-8272-D55E-8ADF-4BC360292604}"/>
              </a:ext>
            </a:extLst>
          </p:cNvPr>
          <p:cNvGrpSpPr/>
          <p:nvPr/>
        </p:nvGrpSpPr>
        <p:grpSpPr>
          <a:xfrm>
            <a:off x="1461445" y="3208616"/>
            <a:ext cx="1102135" cy="728328"/>
            <a:chOff x="1580102" y="4395593"/>
            <a:chExt cx="939230" cy="70182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B3C8E9B-EFEA-6B52-0F3B-E2F091E25EC8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FBE8E5"/>
            </a:solidFill>
            <a:ln w="25400">
              <a:solidFill>
                <a:srgbClr val="DFB4B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7477F8B-362B-FF5F-02C0-54CEE27A5ACA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631716"/>
                  </a:solidFill>
                </a:rPr>
                <a:t>[1]</a:t>
              </a:r>
              <a:r>
                <a:rPr lang="zh-CN" altLang="en-US" b="1" dirty="0">
                  <a:solidFill>
                    <a:srgbClr val="631716"/>
                  </a:solidFill>
                </a:rPr>
                <a:t>炮击</a:t>
              </a:r>
            </a:p>
          </p:txBody>
        </p:sp>
      </p:grp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945FE91-035D-461C-892F-C2C9F5408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897026"/>
              </p:ext>
            </p:extLst>
          </p:nvPr>
        </p:nvGraphicFramePr>
        <p:xfrm>
          <a:off x="1110064" y="4725103"/>
          <a:ext cx="10242954" cy="1341204"/>
        </p:xfrm>
        <a:graphic>
          <a:graphicData uri="http://schemas.openxmlformats.org/drawingml/2006/table">
            <a:tbl>
              <a:tblPr/>
              <a:tblGrid>
                <a:gridCol w="3414318">
                  <a:extLst>
                    <a:ext uri="{9D8B030D-6E8A-4147-A177-3AD203B41FA5}">
                      <a16:colId xmlns:a16="http://schemas.microsoft.com/office/drawing/2014/main" val="2919421121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01021352"/>
                    </a:ext>
                  </a:extLst>
                </a:gridCol>
                <a:gridCol w="3414318">
                  <a:extLst>
                    <a:ext uri="{9D8B030D-6E8A-4147-A177-3AD203B41FA5}">
                      <a16:colId xmlns:a16="http://schemas.microsoft.com/office/drawing/2014/main" val="2474343106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Output Coverage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Boundary Type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84669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BERT+CRF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Text Position Only</a:t>
                      </a: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❌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620931"/>
                  </a:ext>
                </a:extLst>
              </a:tr>
              <a:tr h="40828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Ours (Full)</a:t>
                      </a:r>
                      <a:endParaRPr lang="en-US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Argument Inference</a:t>
                      </a:r>
                      <a:endParaRPr lang="en-US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12700" cap="flat" cmpd="sng" algn="ctr">
                      <a:solidFill>
                        <a:srgbClr val="DA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dirty="0">
                          <a:solidFill>
                            <a:srgbClr val="3A4FCB"/>
                          </a:solidFill>
                          <a:effectLst/>
                          <a:latin typeface="Google Sans Text"/>
                        </a:rPr>
                        <a:t>✅</a:t>
                      </a:r>
                      <a:endParaRPr lang="en-US" dirty="0">
                        <a:solidFill>
                          <a:srgbClr val="3A4FCB"/>
                        </a:solidFill>
                        <a:effectLst/>
                        <a:latin typeface="Google Sans Text"/>
                      </a:endParaRPr>
                    </a:p>
                  </a:txBody>
                  <a:tcPr marL="65314" marR="65314" marT="43543" marB="43543" anchor="ctr">
                    <a:lnL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57"/>
                  </a:ext>
                </a:extLst>
              </a:tr>
            </a:tbl>
          </a:graphicData>
        </a:graphic>
      </p:graphicFrame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B5DC594-B3AD-8651-9010-4CAAA1E4B3B8}"/>
              </a:ext>
            </a:extLst>
          </p:cNvPr>
          <p:cNvSpPr/>
          <p:nvPr/>
        </p:nvSpPr>
        <p:spPr>
          <a:xfrm>
            <a:off x="843363" y="2055222"/>
            <a:ext cx="10756454" cy="4214949"/>
          </a:xfrm>
          <a:prstGeom prst="roundRect">
            <a:avLst>
              <a:gd name="adj" fmla="val 3078"/>
            </a:avLst>
          </a:prstGeom>
          <a:noFill/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4428DE9-F905-E425-FE95-175782890922}"/>
              </a:ext>
            </a:extLst>
          </p:cNvPr>
          <p:cNvGrpSpPr/>
          <p:nvPr/>
        </p:nvGrpSpPr>
        <p:grpSpPr>
          <a:xfrm>
            <a:off x="2995764" y="3199414"/>
            <a:ext cx="1102135" cy="499377"/>
            <a:chOff x="1580102" y="4395593"/>
            <a:chExt cx="939230" cy="481207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7C94A07-8D8D-6EE7-1DC9-0469882C0A10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FBE8E5"/>
            </a:solidFill>
            <a:ln w="25400">
              <a:solidFill>
                <a:srgbClr val="DFB4B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B779AB-28DA-F5DA-F903-E62FA1B8254C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631716"/>
                  </a:solidFill>
                </a:rPr>
                <a:t>[2]</a:t>
              </a:r>
              <a:r>
                <a:rPr lang="zh-CN" altLang="en-US" b="1" dirty="0">
                  <a:solidFill>
                    <a:srgbClr val="631716"/>
                  </a:solidFill>
                </a:rPr>
                <a:t>部署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B822E9A-BE0F-7BE2-2A1C-F4797889CEEB}"/>
              </a:ext>
            </a:extLst>
          </p:cNvPr>
          <p:cNvGrpSpPr/>
          <p:nvPr/>
        </p:nvGrpSpPr>
        <p:grpSpPr>
          <a:xfrm>
            <a:off x="4530083" y="3207627"/>
            <a:ext cx="1102135" cy="499377"/>
            <a:chOff x="1580102" y="4395593"/>
            <a:chExt cx="939230" cy="481207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B5666A2-5121-EC67-EC5F-787A2EAD32B1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FBE8E5"/>
            </a:solidFill>
            <a:ln w="25400">
              <a:solidFill>
                <a:srgbClr val="DFB4B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6314A7-ACB8-4275-9C9F-9E09F63AEF4A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631716"/>
                  </a:solidFill>
                </a:rPr>
                <a:t>[3]</a:t>
              </a:r>
              <a:r>
                <a:rPr lang="zh-CN" altLang="en-US" b="1" dirty="0">
                  <a:solidFill>
                    <a:srgbClr val="631716"/>
                  </a:solidFill>
                </a:rPr>
                <a:t>反攻</a:t>
              </a:r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508659F-8EFE-CB29-13CB-F2211F92E091}"/>
              </a:ext>
            </a:extLst>
          </p:cNvPr>
          <p:cNvCxnSpPr>
            <a:cxnSpLocks/>
          </p:cNvCxnSpPr>
          <p:nvPr/>
        </p:nvCxnSpPr>
        <p:spPr>
          <a:xfrm>
            <a:off x="4072260" y="3450424"/>
            <a:ext cx="443152" cy="3031"/>
          </a:xfrm>
          <a:prstGeom prst="straightConnector1">
            <a:avLst/>
          </a:prstGeom>
          <a:ln w="31750">
            <a:solidFill>
              <a:srgbClr val="9D2021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87BB7A43-CCD4-73D1-B513-FCBB4426375D}"/>
              </a:ext>
            </a:extLst>
          </p:cNvPr>
          <p:cNvCxnSpPr>
            <a:cxnSpLocks/>
            <a:stCxn id="7" idx="0"/>
            <a:endCxn id="15" idx="0"/>
          </p:cNvCxnSpPr>
          <p:nvPr/>
        </p:nvCxnSpPr>
        <p:spPr>
          <a:xfrm rot="5400000" flipH="1" flipV="1">
            <a:off x="2753134" y="2436856"/>
            <a:ext cx="9202" cy="1534319"/>
          </a:xfrm>
          <a:prstGeom prst="curvedConnector3">
            <a:avLst>
              <a:gd name="adj1" fmla="val 3719898"/>
            </a:avLst>
          </a:prstGeom>
          <a:ln>
            <a:solidFill>
              <a:srgbClr val="631716"/>
            </a:solidFill>
            <a:prstDash val="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666775C-0333-C984-9FBE-74BADB2C264F}"/>
              </a:ext>
            </a:extLst>
          </p:cNvPr>
          <p:cNvSpPr txBox="1"/>
          <p:nvPr/>
        </p:nvSpPr>
        <p:spPr>
          <a:xfrm>
            <a:off x="2236370" y="3942625"/>
            <a:ext cx="266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❌ </a:t>
            </a:r>
            <a:r>
              <a:rPr lang="en-US" altLang="zh-CN" dirty="0"/>
              <a:t>Incorrect Ordering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BDBF860-890C-2195-C6C4-A4941CB979A5}"/>
              </a:ext>
            </a:extLst>
          </p:cNvPr>
          <p:cNvSpPr/>
          <p:nvPr/>
        </p:nvSpPr>
        <p:spPr>
          <a:xfrm>
            <a:off x="6351677" y="2323463"/>
            <a:ext cx="4969078" cy="2107474"/>
          </a:xfrm>
          <a:prstGeom prst="roundRect">
            <a:avLst>
              <a:gd name="adj" fmla="val 3849"/>
            </a:avLst>
          </a:prstGeom>
          <a:solidFill>
            <a:srgbClr val="FAFBFA"/>
          </a:solidFill>
          <a:ln w="34925">
            <a:solidFill>
              <a:srgbClr val="D3CECE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FC145E0-8665-1676-7B27-68804BA1A4D5}"/>
              </a:ext>
            </a:extLst>
          </p:cNvPr>
          <p:cNvSpPr txBox="1"/>
          <p:nvPr/>
        </p:nvSpPr>
        <p:spPr>
          <a:xfrm>
            <a:off x="6938563" y="2247898"/>
            <a:ext cx="3655961" cy="53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100" b="1" dirty="0">
                <a:solidFill>
                  <a:srgbClr val="2A6927"/>
                </a:solidFill>
              </a:rPr>
              <a:t>Ours (Argument Inference)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3CF5311-F818-A73B-B796-F4E93C3B586B}"/>
              </a:ext>
            </a:extLst>
          </p:cNvPr>
          <p:cNvCxnSpPr>
            <a:cxnSpLocks/>
          </p:cNvCxnSpPr>
          <p:nvPr/>
        </p:nvCxnSpPr>
        <p:spPr>
          <a:xfrm>
            <a:off x="7773545" y="3446069"/>
            <a:ext cx="443152" cy="3031"/>
          </a:xfrm>
          <a:prstGeom prst="straightConnector1">
            <a:avLst/>
          </a:prstGeom>
          <a:ln w="31750">
            <a:solidFill>
              <a:srgbClr val="2A6927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7AC5287-FEB1-1351-84DE-DD7C5D7C3889}"/>
              </a:ext>
            </a:extLst>
          </p:cNvPr>
          <p:cNvGrpSpPr/>
          <p:nvPr/>
        </p:nvGrpSpPr>
        <p:grpSpPr>
          <a:xfrm>
            <a:off x="6708505" y="3208619"/>
            <a:ext cx="1102135" cy="499377"/>
            <a:chOff x="1580102" y="4395593"/>
            <a:chExt cx="939230" cy="481207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37DF19D-CDBB-2C03-EF2F-6CD782F69C2E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D2E4C7"/>
            </a:solidFill>
            <a:ln w="25400">
              <a:solidFill>
                <a:srgbClr val="9BC583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DC5421C-AE52-1DDE-F6A0-599F8FEE380E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2A6927"/>
                  </a:solidFill>
                </a:rPr>
                <a:t>[2]</a:t>
              </a:r>
              <a:r>
                <a:rPr lang="zh-CN" altLang="en-US" b="1" dirty="0">
                  <a:solidFill>
                    <a:srgbClr val="2A6927"/>
                  </a:solidFill>
                </a:rPr>
                <a:t>部署</a:t>
              </a:r>
            </a:p>
          </p:txBody>
        </p:sp>
      </p:grp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CFDFCF9-705A-42E9-50A5-13DAFA9D17DB}"/>
              </a:ext>
            </a:extLst>
          </p:cNvPr>
          <p:cNvCxnSpPr>
            <a:cxnSpLocks/>
          </p:cNvCxnSpPr>
          <p:nvPr/>
        </p:nvCxnSpPr>
        <p:spPr>
          <a:xfrm>
            <a:off x="9319320" y="3450424"/>
            <a:ext cx="443152" cy="3031"/>
          </a:xfrm>
          <a:prstGeom prst="straightConnector1">
            <a:avLst/>
          </a:prstGeom>
          <a:ln w="31750">
            <a:solidFill>
              <a:srgbClr val="2A6927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37">
            <a:extLst>
              <a:ext uri="{FF2B5EF4-FFF2-40B4-BE49-F238E27FC236}">
                <a16:creationId xmlns:a16="http://schemas.microsoft.com/office/drawing/2014/main" id="{ABD2978B-995F-2F73-B1DE-B7D6944EE5C6}"/>
              </a:ext>
            </a:extLst>
          </p:cNvPr>
          <p:cNvCxnSpPr>
            <a:cxnSpLocks/>
            <a:stCxn id="49" idx="0"/>
          </p:cNvCxnSpPr>
          <p:nvPr/>
        </p:nvCxnSpPr>
        <p:spPr>
          <a:xfrm rot="5400000" flipH="1" flipV="1">
            <a:off x="8000194" y="2436856"/>
            <a:ext cx="9202" cy="1534319"/>
          </a:xfrm>
          <a:prstGeom prst="curvedConnector3">
            <a:avLst>
              <a:gd name="adj1" fmla="val 3719898"/>
            </a:avLst>
          </a:prstGeom>
          <a:ln>
            <a:solidFill>
              <a:srgbClr val="1A620B"/>
            </a:solidFill>
            <a:prstDash val="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709F389C-E7FA-85FF-2862-64828DB50AB8}"/>
              </a:ext>
            </a:extLst>
          </p:cNvPr>
          <p:cNvSpPr txBox="1"/>
          <p:nvPr/>
        </p:nvSpPr>
        <p:spPr>
          <a:xfrm>
            <a:off x="7255053" y="3933910"/>
            <a:ext cx="352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✅ </a:t>
            </a:r>
            <a:r>
              <a:rPr lang="en-US" altLang="zh-CN" dirty="0"/>
              <a:t>Correct Temporal Ordering</a:t>
            </a:r>
            <a:endParaRPr lang="zh-CN" altLang="en-US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27DF8A6-06D6-BB93-EFDD-54E28A218B1A}"/>
              </a:ext>
            </a:extLst>
          </p:cNvPr>
          <p:cNvGrpSpPr/>
          <p:nvPr/>
        </p:nvGrpSpPr>
        <p:grpSpPr>
          <a:xfrm>
            <a:off x="8245574" y="3212968"/>
            <a:ext cx="1102135" cy="499377"/>
            <a:chOff x="1580102" y="4395593"/>
            <a:chExt cx="939230" cy="481207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61368FE7-1876-A928-2228-5B6113D88474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D2E4C7"/>
            </a:solidFill>
            <a:ln w="25400">
              <a:solidFill>
                <a:srgbClr val="9BC583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BFDC25C-900F-7D7A-42CB-EE983FC60028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2A6927"/>
                  </a:solidFill>
                </a:rPr>
                <a:t>[1]</a:t>
              </a:r>
              <a:r>
                <a:rPr lang="zh-CN" altLang="en-US" b="1" dirty="0">
                  <a:solidFill>
                    <a:srgbClr val="2A6927"/>
                  </a:solidFill>
                </a:rPr>
                <a:t>炮击</a:t>
              </a:r>
            </a:p>
          </p:txBody>
        </p:sp>
      </p:grpSp>
      <p:cxnSp>
        <p:nvCxnSpPr>
          <p:cNvPr id="66" name="连接符: 肘形 37">
            <a:extLst>
              <a:ext uri="{FF2B5EF4-FFF2-40B4-BE49-F238E27FC236}">
                <a16:creationId xmlns:a16="http://schemas.microsoft.com/office/drawing/2014/main" id="{06966634-2680-1719-4A79-B4AEA60CB6D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537252" y="2423791"/>
            <a:ext cx="9202" cy="1534319"/>
          </a:xfrm>
          <a:prstGeom prst="curvedConnector3">
            <a:avLst>
              <a:gd name="adj1" fmla="val 3719898"/>
            </a:avLst>
          </a:prstGeom>
          <a:ln>
            <a:solidFill>
              <a:srgbClr val="1A620B"/>
            </a:solidFill>
            <a:prstDash val="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73A2A146-4CD3-F9C3-87C2-2C6D369444E0}"/>
              </a:ext>
            </a:extLst>
          </p:cNvPr>
          <p:cNvGrpSpPr/>
          <p:nvPr/>
        </p:nvGrpSpPr>
        <p:grpSpPr>
          <a:xfrm>
            <a:off x="9786988" y="3204257"/>
            <a:ext cx="1102135" cy="499377"/>
            <a:chOff x="1580102" y="4395593"/>
            <a:chExt cx="939230" cy="481207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438B219F-99EF-6AD0-4725-647B854E7304}"/>
                </a:ext>
              </a:extLst>
            </p:cNvPr>
            <p:cNvSpPr/>
            <p:nvPr/>
          </p:nvSpPr>
          <p:spPr>
            <a:xfrm>
              <a:off x="1580102" y="4395593"/>
              <a:ext cx="901842" cy="481207"/>
            </a:xfrm>
            <a:prstGeom prst="roundRect">
              <a:avLst>
                <a:gd name="adj" fmla="val 9488"/>
              </a:avLst>
            </a:prstGeom>
            <a:solidFill>
              <a:srgbClr val="D2E4C7"/>
            </a:solidFill>
            <a:ln w="25400">
              <a:solidFill>
                <a:srgbClr val="9BC583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1BA4262-71A8-8622-03A9-DBD41F709957}"/>
                </a:ext>
              </a:extLst>
            </p:cNvPr>
            <p:cNvSpPr txBox="1"/>
            <p:nvPr/>
          </p:nvSpPr>
          <p:spPr>
            <a:xfrm>
              <a:off x="1617490" y="4451090"/>
              <a:ext cx="901842" cy="35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2A6927"/>
                  </a:solidFill>
                </a:rPr>
                <a:t>[3]</a:t>
              </a:r>
              <a:r>
                <a:rPr lang="zh-CN" altLang="en-US" b="1" dirty="0">
                  <a:solidFill>
                    <a:srgbClr val="2A6927"/>
                  </a:solidFill>
                </a:rPr>
                <a:t>反攻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98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1313</TotalTime>
  <Words>741</Words>
  <Application>Microsoft Office PowerPoint</Application>
  <PresentationFormat>自定义</PresentationFormat>
  <Paragraphs>169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Google Sans Text</vt:lpstr>
      <vt:lpstr>等线</vt:lpstr>
      <vt:lpstr>黑体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jinbj3@163.com</dc:creator>
  <cp:lastModifiedBy>世博 崔</cp:lastModifiedBy>
  <cp:revision>29</cp:revision>
  <dcterms:created xsi:type="dcterms:W3CDTF">2026-05-25T15:51:57Z</dcterms:created>
  <dcterms:modified xsi:type="dcterms:W3CDTF">2026-06-14T11:43:44Z</dcterms:modified>
</cp:coreProperties>
</file>