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sldIdLst>
    <p:sldId id="256" r:id="rId2"/>
  </p:sldIdLst>
  <p:sldSz cx="12192000" cy="93964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5BD4"/>
    <a:srgbClr val="6D43B1"/>
    <a:srgbClr val="356535"/>
    <a:srgbClr val="DA521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100" d="100"/>
          <a:sy n="100" d="100"/>
        </p:scale>
        <p:origin x="1066" y="-264"/>
      </p:cViewPr>
      <p:guideLst>
        <p:guide orient="horz" pos="29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537793"/>
            <a:ext cx="10363200" cy="3271344"/>
          </a:xfrm>
        </p:spPr>
        <p:txBody>
          <a:bodyPr anchor="b"/>
          <a:lstStyle>
            <a:lvl1pPr algn="ctr">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4935293"/>
            <a:ext cx="9144000" cy="2268624"/>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33508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533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2342581"/>
            <a:ext cx="10515600" cy="3908646"/>
          </a:xfrm>
        </p:spPr>
        <p:txBody>
          <a:bodyPr anchor="b"/>
          <a:lstStyle>
            <a:lvl1pPr>
              <a:defRPr sz="8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6288204"/>
            <a:ext cx="10515600" cy="2055465"/>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59741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2501360"/>
            <a:ext cx="5181600" cy="59619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2501360"/>
            <a:ext cx="5181600" cy="59619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060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500274"/>
            <a:ext cx="10515600" cy="181620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2303427"/>
            <a:ext cx="5157787" cy="1128874"/>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Content Placeholder 3"/>
          <p:cNvSpPr>
            <a:spLocks noGrp="1"/>
          </p:cNvSpPr>
          <p:nvPr>
            <p:ph sz="half" idx="2"/>
          </p:nvPr>
        </p:nvSpPr>
        <p:spPr>
          <a:xfrm>
            <a:off x="839789" y="3432301"/>
            <a:ext cx="5157787" cy="5048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2303427"/>
            <a:ext cx="5183188" cy="1128874"/>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Content Placeholder 5"/>
          <p:cNvSpPr>
            <a:spLocks noGrp="1"/>
          </p:cNvSpPr>
          <p:nvPr>
            <p:ph sz="quarter" idx="4"/>
          </p:nvPr>
        </p:nvSpPr>
        <p:spPr>
          <a:xfrm>
            <a:off x="6172201" y="3432301"/>
            <a:ext cx="5183188" cy="5048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755675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70284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784231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626428"/>
            <a:ext cx="3932237" cy="2192496"/>
          </a:xfrm>
        </p:spPr>
        <p:txBody>
          <a:bodyPr anchor="b"/>
          <a:lstStyle>
            <a:lvl1pPr>
              <a:defRPr sz="4267"/>
            </a:lvl1pPr>
          </a:lstStyle>
          <a:p>
            <a:r>
              <a:rPr lang="zh-CN" altLang="en-US"/>
              <a:t>单击此处编辑母版标题样式</a:t>
            </a:r>
            <a:endParaRPr lang="en-US" dirty="0"/>
          </a:p>
        </p:txBody>
      </p:sp>
      <p:sp>
        <p:nvSpPr>
          <p:cNvPr id="3" name="Content Placeholder 2"/>
          <p:cNvSpPr>
            <a:spLocks noGrp="1"/>
          </p:cNvSpPr>
          <p:nvPr>
            <p:ph idx="1"/>
          </p:nvPr>
        </p:nvSpPr>
        <p:spPr>
          <a:xfrm>
            <a:off x="5183188" y="1352912"/>
            <a:ext cx="6172200" cy="667754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818924"/>
            <a:ext cx="3932237" cy="5222405"/>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6902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626428"/>
            <a:ext cx="3932237" cy="2192496"/>
          </a:xfrm>
        </p:spPr>
        <p:txBody>
          <a:bodyPr anchor="b"/>
          <a:lstStyle>
            <a:lvl1pPr>
              <a:defRPr sz="4267"/>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1352912"/>
            <a:ext cx="6172200" cy="6677543"/>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zh-CN" altLang="en-US"/>
              <a:t>单击图标添加图片</a:t>
            </a:r>
            <a:endParaRPr lang="en-US" dirty="0"/>
          </a:p>
        </p:txBody>
      </p:sp>
      <p:sp>
        <p:nvSpPr>
          <p:cNvPr id="4" name="Text Placeholder 3"/>
          <p:cNvSpPr>
            <a:spLocks noGrp="1"/>
          </p:cNvSpPr>
          <p:nvPr>
            <p:ph type="body" sz="half" idx="2"/>
          </p:nvPr>
        </p:nvSpPr>
        <p:spPr>
          <a:xfrm>
            <a:off x="839788" y="2818924"/>
            <a:ext cx="3932237" cy="5222405"/>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316435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415641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00272"/>
            <a:ext cx="2628900" cy="79630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500272"/>
            <a:ext cx="7734300" cy="7963026"/>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2026/6/13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644343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00274"/>
            <a:ext cx="10515600" cy="181620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2501360"/>
            <a:ext cx="10515600" cy="59619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8709085"/>
            <a:ext cx="2743200" cy="500272"/>
          </a:xfrm>
          <a:prstGeom prst="rect">
            <a:avLst/>
          </a:prstGeom>
        </p:spPr>
        <p:txBody>
          <a:bodyPr vert="horz" lIns="91440" tIns="45720" rIns="91440" bIns="45720" rtlCol="0" anchor="ctr"/>
          <a:lstStyle>
            <a:lvl1pPr algn="l">
              <a:defRPr sz="1600">
                <a:solidFill>
                  <a:schemeClr val="tx1">
                    <a:tint val="75000"/>
                  </a:schemeClr>
                </a:solidFill>
              </a:defRPr>
            </a:lvl1pPr>
          </a:lstStyle>
          <a:p>
            <a:fld id="{D997B5FA-0921-464F-AAE1-844C04324D75}" type="datetimeFigureOut">
              <a:rPr lang="zh-CN" altLang="en-US" smtClean="0"/>
              <a:t>2026/6/13</a:t>
            </a:fld>
            <a:endParaRPr lang="zh-CN" altLang="en-US"/>
          </a:p>
        </p:txBody>
      </p:sp>
      <p:sp>
        <p:nvSpPr>
          <p:cNvPr id="5" name="Footer Placeholder 4"/>
          <p:cNvSpPr>
            <a:spLocks noGrp="1"/>
          </p:cNvSpPr>
          <p:nvPr>
            <p:ph type="ftr" sz="quarter" idx="3"/>
          </p:nvPr>
        </p:nvSpPr>
        <p:spPr>
          <a:xfrm>
            <a:off x="4038600" y="8709085"/>
            <a:ext cx="4114800" cy="500272"/>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8709085"/>
            <a:ext cx="2743200" cy="500272"/>
          </a:xfrm>
          <a:prstGeom prst="rect">
            <a:avLst/>
          </a:prstGeom>
        </p:spPr>
        <p:txBody>
          <a:bodyPr vert="horz" lIns="91440" tIns="45720" rIns="91440" bIns="45720" rtlCol="0" anchor="ctr"/>
          <a:lstStyle>
            <a:lvl1pPr algn="r">
              <a:defRPr sz="16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7099682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emf"/><Relationship Id="rId3" Type="http://schemas.openxmlformats.org/officeDocument/2006/relationships/image" Target="../media/image2.emf"/><Relationship Id="rId7" Type="http://schemas.openxmlformats.org/officeDocument/2006/relationships/image" Target="../media/image6.emf"/><Relationship Id="rId12" Type="http://schemas.openxmlformats.org/officeDocument/2006/relationships/image" Target="../media/image11.emf"/><Relationship Id="rId17" Type="http://schemas.openxmlformats.org/officeDocument/2006/relationships/image" Target="../media/image16.svg"/><Relationship Id="rId2" Type="http://schemas.openxmlformats.org/officeDocument/2006/relationships/image" Target="../media/image1.svg"/><Relationship Id="rId16" Type="http://schemas.openxmlformats.org/officeDocument/2006/relationships/image" Target="../media/image15.emf"/><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0.svg"/><Relationship Id="rId5" Type="http://schemas.openxmlformats.org/officeDocument/2006/relationships/image" Target="../media/image4.emf"/><Relationship Id="rId15" Type="http://schemas.openxmlformats.org/officeDocument/2006/relationships/image" Target="../media/image14.emf"/><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 Id="rId1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73547DB6-DFD1-45AB-E963-8199B331AEBB}"/>
              </a:ext>
            </a:extLst>
          </p:cNvPr>
          <p:cNvSpPr/>
          <p:nvPr/>
        </p:nvSpPr>
        <p:spPr>
          <a:xfrm>
            <a:off x="899497" y="362674"/>
            <a:ext cx="10412361" cy="2284200"/>
          </a:xfrm>
          <a:prstGeom prst="roundRect">
            <a:avLst>
              <a:gd name="adj" fmla="val 4065"/>
            </a:avLst>
          </a:prstGeom>
          <a:no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94191791-6623-BC5B-5EAE-846B0044CD17}"/>
              </a:ext>
            </a:extLst>
          </p:cNvPr>
          <p:cNvSpPr/>
          <p:nvPr/>
        </p:nvSpPr>
        <p:spPr>
          <a:xfrm>
            <a:off x="231673" y="362675"/>
            <a:ext cx="11813781" cy="2740560"/>
          </a:xfrm>
          <a:prstGeom prst="roundRect">
            <a:avLst>
              <a:gd name="adj" fmla="val 7268"/>
            </a:avLst>
          </a:prstGeom>
          <a:noFill/>
          <a:ln w="12700">
            <a:solidFill>
              <a:srgbClr val="315B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77F0E7F-0867-1DA4-2944-172D1ECE6DA5}"/>
              </a:ext>
            </a:extLst>
          </p:cNvPr>
          <p:cNvSpPr txBox="1"/>
          <p:nvPr/>
        </p:nvSpPr>
        <p:spPr>
          <a:xfrm>
            <a:off x="4407341" y="377293"/>
            <a:ext cx="3934402" cy="338554"/>
          </a:xfrm>
          <a:prstGeom prst="rect">
            <a:avLst/>
          </a:prstGeom>
          <a:noFill/>
        </p:spPr>
        <p:txBody>
          <a:bodyPr wrap="square" rtlCol="0">
            <a:spAutoFit/>
          </a:bodyPr>
          <a:lstStyle/>
          <a:p>
            <a:r>
              <a:rPr lang="en-US" altLang="zh-CN" sz="1600" dirty="0">
                <a:solidFill>
                  <a:srgbClr val="315BD4"/>
                </a:solidFill>
                <a:latin typeface="Aptos Display" panose="020B0004020202020204" pitchFamily="34" charset="0"/>
                <a:ea typeface="黑体" panose="02010609060101010101" pitchFamily="49" charset="-122"/>
              </a:rPr>
              <a:t>1. Document-level Military News Input</a:t>
            </a:r>
          </a:p>
        </p:txBody>
      </p:sp>
      <p:sp>
        <p:nvSpPr>
          <p:cNvPr id="7" name="文本框 6">
            <a:extLst>
              <a:ext uri="{FF2B5EF4-FFF2-40B4-BE49-F238E27FC236}">
                <a16:creationId xmlns:a16="http://schemas.microsoft.com/office/drawing/2014/main" id="{785445BF-5780-B525-6734-ECF97EC7857C}"/>
              </a:ext>
            </a:extLst>
          </p:cNvPr>
          <p:cNvSpPr txBox="1"/>
          <p:nvPr/>
        </p:nvSpPr>
        <p:spPr>
          <a:xfrm>
            <a:off x="1179608" y="658426"/>
            <a:ext cx="10865846" cy="2277547"/>
          </a:xfrm>
          <a:prstGeom prst="rect">
            <a:avLst/>
          </a:prstGeom>
          <a:noFill/>
        </p:spPr>
        <p:txBody>
          <a:bodyPr wrap="square" rtlCol="0">
            <a:spAutoFit/>
          </a:bodyPr>
          <a:lstStyle/>
          <a:p>
            <a:pPr>
              <a:spcAft>
                <a:spcPts val="400"/>
              </a:spcAft>
            </a:pPr>
            <a:r>
              <a:rPr lang="en-US" altLang="zh-CN" sz="1200" dirty="0">
                <a:latin typeface="Aptos" panose="020B0004020202020204" pitchFamily="34" charset="0"/>
                <a:ea typeface="宋体" panose="02010600030101010101" pitchFamily="2" charset="-122"/>
              </a:rPr>
              <a:t>The M-country Navy amphibious assault ship Saipan, together with Helicopter Mine Countermeasures Squadron 15, HM-15 Blackhawks, successfully completed a training exercise in the Persian Gulf on November 7. Personnel from HM-15 “Blackhawks” operated an HM-53E Sea Dragon helicopter towing the MK-105 magnetic influence minesweeping system, also known as the "sled ".</a:t>
            </a:r>
          </a:p>
          <a:p>
            <a:pPr>
              <a:spcAft>
                <a:spcPts val="400"/>
              </a:spcAft>
            </a:pPr>
            <a:r>
              <a:rPr lang="en-US" altLang="zh-CN" sz="1200" dirty="0">
                <a:latin typeface="Aptos" panose="020B0004020202020204" pitchFamily="34" charset="0"/>
                <a:ea typeface="宋体" panose="02010600030101010101" pitchFamily="2" charset="-122"/>
              </a:rPr>
              <a:t>The sled is a high-speed minesweeping system. It is well suited for clearing magnetic-influence and acoustic-influence mines, enabling more flexible and faster mission execution. Years of experience have shown that mine countermeasure operations are highly useful to the Navy because they protect ships and personnel from invisible threats in the water.</a:t>
            </a:r>
          </a:p>
          <a:p>
            <a:pPr>
              <a:spcAft>
                <a:spcPts val="400"/>
              </a:spcAft>
            </a:pPr>
            <a:r>
              <a:rPr lang="en-US" altLang="zh-CN" sz="1200" dirty="0">
                <a:latin typeface="Aptos" panose="020B0004020202020204" pitchFamily="34" charset="0"/>
                <a:ea typeface="宋体" panose="02010600030101010101" pitchFamily="2" charset="-122"/>
              </a:rPr>
              <a:t>HM-15, together with the sled, was loaded aboard Saipan on November 3. This exercise marked the second successful demonstration of minesweeping capability in the Persian Gulf within two months. Saipan is currently deployed in the M-country Navy Fifth Fleet area of operations, conducting maritime security operations in the Gulf of Aden, the Gulf of Oman, the Persian Gulf, the Arabian Sea, the Red Sea, and the Indian Ocean.</a:t>
            </a:r>
          </a:p>
          <a:p>
            <a:pPr>
              <a:spcAft>
                <a:spcPts val="400"/>
              </a:spcAft>
            </a:pPr>
            <a:r>
              <a:rPr lang="en-US" altLang="zh-CN" sz="1200" dirty="0">
                <a:latin typeface="Aptos" panose="020B0004020202020204" pitchFamily="34" charset="0"/>
                <a:ea typeface="宋体" panose="02010600030101010101" pitchFamily="2" charset="-122"/>
              </a:rPr>
              <a:t>Maritime security operations help ensure the safety and stability of the maritime environment, while also contributing to counterterrorism and regional security. These military operations counter the use of the sea by international terrorists to conduct attacks and to transport personnel, weapons, or other materials.</a:t>
            </a:r>
          </a:p>
        </p:txBody>
      </p:sp>
      <p:pic>
        <p:nvPicPr>
          <p:cNvPr id="9" name="图形 8">
            <a:extLst>
              <a:ext uri="{FF2B5EF4-FFF2-40B4-BE49-F238E27FC236}">
                <a16:creationId xmlns:a16="http://schemas.microsoft.com/office/drawing/2014/main" id="{44664846-4CD5-03D4-A7A3-8DD1E19F0E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8849" y="1297454"/>
            <a:ext cx="864399" cy="864399"/>
          </a:xfrm>
          <a:prstGeom prst="rect">
            <a:avLst/>
          </a:prstGeom>
        </p:spPr>
      </p:pic>
      <p:sp>
        <p:nvSpPr>
          <p:cNvPr id="11" name="矩形: 圆角 10">
            <a:extLst>
              <a:ext uri="{FF2B5EF4-FFF2-40B4-BE49-F238E27FC236}">
                <a16:creationId xmlns:a16="http://schemas.microsoft.com/office/drawing/2014/main" id="{EA661296-1E16-9FD2-2D10-E553474B8DFA}"/>
              </a:ext>
            </a:extLst>
          </p:cNvPr>
          <p:cNvSpPr/>
          <p:nvPr/>
        </p:nvSpPr>
        <p:spPr>
          <a:xfrm>
            <a:off x="237004" y="3389764"/>
            <a:ext cx="3783299" cy="1832981"/>
          </a:xfrm>
          <a:prstGeom prst="roundRect">
            <a:avLst>
              <a:gd name="adj" fmla="val 7268"/>
            </a:avLst>
          </a:prstGeom>
          <a:noFill/>
          <a:ln w="12700">
            <a:solidFill>
              <a:srgbClr val="3565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DD8C7DA6-F2FD-6C3F-83A6-6AEAC670E562}"/>
              </a:ext>
            </a:extLst>
          </p:cNvPr>
          <p:cNvSpPr txBox="1"/>
          <p:nvPr/>
        </p:nvSpPr>
        <p:spPr>
          <a:xfrm>
            <a:off x="392645" y="3446583"/>
            <a:ext cx="3472015" cy="338554"/>
          </a:xfrm>
          <a:prstGeom prst="rect">
            <a:avLst/>
          </a:prstGeom>
          <a:noFill/>
        </p:spPr>
        <p:txBody>
          <a:bodyPr wrap="square" rtlCol="0">
            <a:spAutoFit/>
          </a:bodyPr>
          <a:lstStyle/>
          <a:p>
            <a:pPr algn="ctr"/>
            <a:r>
              <a:rPr lang="en-US" altLang="zh-CN" sz="1600" dirty="0">
                <a:solidFill>
                  <a:srgbClr val="356535"/>
                </a:solidFill>
                <a:latin typeface="Aptos Display" panose="020B0004020202020204" pitchFamily="34" charset="0"/>
                <a:ea typeface="黑体" panose="02010609060101010101" pitchFamily="49" charset="-122"/>
              </a:rPr>
              <a:t>2. Target-related Event Detection</a:t>
            </a:r>
          </a:p>
        </p:txBody>
      </p:sp>
      <p:sp>
        <p:nvSpPr>
          <p:cNvPr id="16" name="箭头: 下 15">
            <a:extLst>
              <a:ext uri="{FF2B5EF4-FFF2-40B4-BE49-F238E27FC236}">
                <a16:creationId xmlns:a16="http://schemas.microsoft.com/office/drawing/2014/main" id="{59258C3F-8E5F-FA05-1CA8-B3499F5AD340}"/>
              </a:ext>
            </a:extLst>
          </p:cNvPr>
          <p:cNvSpPr/>
          <p:nvPr/>
        </p:nvSpPr>
        <p:spPr>
          <a:xfrm>
            <a:off x="1865599" y="3126154"/>
            <a:ext cx="277526" cy="243680"/>
          </a:xfrm>
          <a:prstGeom prst="downArrow">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0304C32C-FBAF-416F-63F5-8B9D5909DBFC}"/>
              </a:ext>
            </a:extLst>
          </p:cNvPr>
          <p:cNvSpPr/>
          <p:nvPr/>
        </p:nvSpPr>
        <p:spPr>
          <a:xfrm>
            <a:off x="340263" y="3835819"/>
            <a:ext cx="3581366" cy="1259290"/>
          </a:xfrm>
          <a:prstGeom prst="roundRect">
            <a:avLst>
              <a:gd name="adj" fmla="val 7268"/>
            </a:avLst>
          </a:prstGeom>
          <a:no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CC34B6A0-BC7E-CAA6-B766-8484A806A2D2}"/>
              </a:ext>
            </a:extLst>
          </p:cNvPr>
          <p:cNvSpPr txBox="1"/>
          <p:nvPr/>
        </p:nvSpPr>
        <p:spPr>
          <a:xfrm>
            <a:off x="308849" y="3852000"/>
            <a:ext cx="3673084" cy="338554"/>
          </a:xfrm>
          <a:prstGeom prst="rect">
            <a:avLst/>
          </a:prstGeom>
          <a:noFill/>
        </p:spPr>
        <p:txBody>
          <a:bodyPr wrap="square" rtlCol="0">
            <a:spAutoFit/>
          </a:bodyPr>
          <a:lstStyle/>
          <a:p>
            <a:pPr algn="ctr"/>
            <a:r>
              <a:rPr lang="en-US" altLang="zh-CN" sz="1600" dirty="0">
                <a:latin typeface="Aptos" panose="020B0004020202020204" pitchFamily="34" charset="0"/>
              </a:rPr>
              <a:t>Target-related events detected</a:t>
            </a:r>
          </a:p>
        </p:txBody>
      </p:sp>
      <p:sp>
        <p:nvSpPr>
          <p:cNvPr id="24" name="文本框 23">
            <a:extLst>
              <a:ext uri="{FF2B5EF4-FFF2-40B4-BE49-F238E27FC236}">
                <a16:creationId xmlns:a16="http://schemas.microsoft.com/office/drawing/2014/main" id="{256ABE51-C743-74F0-A9A7-D4905569E6DC}"/>
              </a:ext>
            </a:extLst>
          </p:cNvPr>
          <p:cNvSpPr txBox="1"/>
          <p:nvPr/>
        </p:nvSpPr>
        <p:spPr>
          <a:xfrm>
            <a:off x="350430" y="4123392"/>
            <a:ext cx="2146243" cy="307905"/>
          </a:xfrm>
          <a:prstGeom prst="rect">
            <a:avLst/>
          </a:prstGeom>
          <a:noFill/>
        </p:spPr>
        <p:txBody>
          <a:bodyPr wrap="square" rtlCol="0">
            <a:spAutoFit/>
          </a:bodyPr>
          <a:lstStyle/>
          <a:p>
            <a:pPr algn="ctr"/>
            <a:r>
              <a:rPr lang="en-US" altLang="zh-CN" sz="1401" dirty="0">
                <a:latin typeface="Aptos" panose="020B0004020202020204" pitchFamily="34" charset="0"/>
              </a:rPr>
              <a:t>Event detection results:</a:t>
            </a:r>
          </a:p>
        </p:txBody>
      </p:sp>
      <p:sp>
        <p:nvSpPr>
          <p:cNvPr id="26" name="矩形: 圆角 25">
            <a:extLst>
              <a:ext uri="{FF2B5EF4-FFF2-40B4-BE49-F238E27FC236}">
                <a16:creationId xmlns:a16="http://schemas.microsoft.com/office/drawing/2014/main" id="{D8BB20A9-F01C-3B98-545C-E5ED1E367339}"/>
              </a:ext>
            </a:extLst>
          </p:cNvPr>
          <p:cNvSpPr/>
          <p:nvPr/>
        </p:nvSpPr>
        <p:spPr>
          <a:xfrm>
            <a:off x="433625" y="4474942"/>
            <a:ext cx="1280251" cy="481103"/>
          </a:xfrm>
          <a:prstGeom prst="roundRect">
            <a:avLst>
              <a:gd name="adj" fmla="val 7268"/>
            </a:avLst>
          </a:prstGeom>
          <a:noFill/>
          <a:ln w="12700">
            <a:solidFill>
              <a:srgbClr val="315B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a:extLst>
              <a:ext uri="{FF2B5EF4-FFF2-40B4-BE49-F238E27FC236}">
                <a16:creationId xmlns:a16="http://schemas.microsoft.com/office/drawing/2014/main" id="{3DFCE850-62C0-7FD3-9A2B-A74F63533755}"/>
              </a:ext>
            </a:extLst>
          </p:cNvPr>
          <p:cNvSpPr/>
          <p:nvPr/>
        </p:nvSpPr>
        <p:spPr>
          <a:xfrm>
            <a:off x="1807238" y="4465830"/>
            <a:ext cx="975914" cy="495872"/>
          </a:xfrm>
          <a:prstGeom prst="roundRect">
            <a:avLst>
              <a:gd name="adj" fmla="val 7268"/>
            </a:avLst>
          </a:prstGeom>
          <a:noFill/>
          <a:ln w="12700">
            <a:solidFill>
              <a:srgbClr val="3565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3BF9611A-878D-B8A3-782C-613A947C7E25}"/>
              </a:ext>
            </a:extLst>
          </p:cNvPr>
          <p:cNvSpPr/>
          <p:nvPr/>
        </p:nvSpPr>
        <p:spPr>
          <a:xfrm>
            <a:off x="2878543" y="4460173"/>
            <a:ext cx="957081" cy="507187"/>
          </a:xfrm>
          <a:prstGeom prst="roundRect">
            <a:avLst>
              <a:gd name="adj" fmla="val 7268"/>
            </a:avLst>
          </a:prstGeom>
          <a:noFill/>
          <a:ln w="12700">
            <a:solidFill>
              <a:srgbClr val="DA52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图片 37">
            <a:extLst>
              <a:ext uri="{FF2B5EF4-FFF2-40B4-BE49-F238E27FC236}">
                <a16:creationId xmlns:a16="http://schemas.microsoft.com/office/drawing/2014/main" id="{4BAD178F-5568-B8B1-EE2E-65A9D94A9362}"/>
              </a:ext>
            </a:extLst>
          </p:cNvPr>
          <p:cNvPicPr>
            <a:picLocks noChangeAspect="1"/>
          </p:cNvPicPr>
          <p:nvPr/>
        </p:nvPicPr>
        <p:blipFill>
          <a:blip r:embed="rId3"/>
          <a:stretch>
            <a:fillRect/>
          </a:stretch>
        </p:blipFill>
        <p:spPr>
          <a:xfrm>
            <a:off x="464471" y="4552770"/>
            <a:ext cx="312996" cy="312996"/>
          </a:xfrm>
          <a:prstGeom prst="rect">
            <a:avLst/>
          </a:prstGeom>
        </p:spPr>
      </p:pic>
      <p:pic>
        <p:nvPicPr>
          <p:cNvPr id="40" name="图片 39">
            <a:extLst>
              <a:ext uri="{FF2B5EF4-FFF2-40B4-BE49-F238E27FC236}">
                <a16:creationId xmlns:a16="http://schemas.microsoft.com/office/drawing/2014/main" id="{B2EDD18D-1A26-2D91-196C-7143B62DA6F0}"/>
              </a:ext>
            </a:extLst>
          </p:cNvPr>
          <p:cNvPicPr>
            <a:picLocks noChangeAspect="1"/>
          </p:cNvPicPr>
          <p:nvPr/>
        </p:nvPicPr>
        <p:blipFill>
          <a:blip r:embed="rId4"/>
          <a:stretch>
            <a:fillRect/>
          </a:stretch>
        </p:blipFill>
        <p:spPr>
          <a:xfrm>
            <a:off x="1831098" y="4572923"/>
            <a:ext cx="344306" cy="249623"/>
          </a:xfrm>
          <a:prstGeom prst="rect">
            <a:avLst/>
          </a:prstGeom>
        </p:spPr>
      </p:pic>
      <p:pic>
        <p:nvPicPr>
          <p:cNvPr id="42" name="图片 41">
            <a:extLst>
              <a:ext uri="{FF2B5EF4-FFF2-40B4-BE49-F238E27FC236}">
                <a16:creationId xmlns:a16="http://schemas.microsoft.com/office/drawing/2014/main" id="{2E363300-F2BC-27AD-5F14-065B7DC996F3}"/>
              </a:ext>
            </a:extLst>
          </p:cNvPr>
          <p:cNvPicPr>
            <a:picLocks noChangeAspect="1"/>
          </p:cNvPicPr>
          <p:nvPr/>
        </p:nvPicPr>
        <p:blipFill>
          <a:blip r:embed="rId5"/>
          <a:stretch>
            <a:fillRect/>
          </a:stretch>
        </p:blipFill>
        <p:spPr>
          <a:xfrm>
            <a:off x="2900499" y="4554328"/>
            <a:ext cx="264795" cy="326580"/>
          </a:xfrm>
          <a:prstGeom prst="rect">
            <a:avLst/>
          </a:prstGeom>
        </p:spPr>
      </p:pic>
      <p:sp>
        <p:nvSpPr>
          <p:cNvPr id="44" name="文本框 43">
            <a:extLst>
              <a:ext uri="{FF2B5EF4-FFF2-40B4-BE49-F238E27FC236}">
                <a16:creationId xmlns:a16="http://schemas.microsoft.com/office/drawing/2014/main" id="{DCC2AC52-5F48-D574-6A23-ABBA60567D7C}"/>
              </a:ext>
            </a:extLst>
          </p:cNvPr>
          <p:cNvSpPr txBox="1"/>
          <p:nvPr/>
        </p:nvSpPr>
        <p:spPr>
          <a:xfrm>
            <a:off x="682139" y="4560084"/>
            <a:ext cx="1073021" cy="307777"/>
          </a:xfrm>
          <a:prstGeom prst="rect">
            <a:avLst/>
          </a:prstGeom>
          <a:noFill/>
        </p:spPr>
        <p:txBody>
          <a:bodyPr wrap="square" rtlCol="0">
            <a:spAutoFit/>
          </a:bodyPr>
          <a:lstStyle/>
          <a:p>
            <a:pPr algn="ctr"/>
            <a:r>
              <a:rPr lang="en-US" altLang="zh-CN" sz="1400" dirty="0">
                <a:solidFill>
                  <a:srgbClr val="315BD4"/>
                </a:solidFill>
                <a:latin typeface="Aptos" panose="020B0004020202020204" pitchFamily="34" charset="0"/>
                <a:ea typeface="等线" panose="02010600030101010101" pitchFamily="2" charset="-122"/>
              </a:rPr>
              <a:t>Manoeuvre</a:t>
            </a:r>
          </a:p>
        </p:txBody>
      </p:sp>
      <p:sp>
        <p:nvSpPr>
          <p:cNvPr id="46" name="文本框 45">
            <a:extLst>
              <a:ext uri="{FF2B5EF4-FFF2-40B4-BE49-F238E27FC236}">
                <a16:creationId xmlns:a16="http://schemas.microsoft.com/office/drawing/2014/main" id="{E8C4F456-96AC-D398-8819-A2AA2A9B484B}"/>
              </a:ext>
            </a:extLst>
          </p:cNvPr>
          <p:cNvSpPr txBox="1"/>
          <p:nvPr/>
        </p:nvSpPr>
        <p:spPr>
          <a:xfrm>
            <a:off x="2086078" y="4539288"/>
            <a:ext cx="758750" cy="307777"/>
          </a:xfrm>
          <a:prstGeom prst="rect">
            <a:avLst/>
          </a:prstGeom>
          <a:noFill/>
        </p:spPr>
        <p:txBody>
          <a:bodyPr wrap="square" rtlCol="0">
            <a:spAutoFit/>
          </a:bodyPr>
          <a:lstStyle/>
          <a:p>
            <a:pPr algn="ctr"/>
            <a:r>
              <a:rPr lang="en-US" altLang="zh-CN" sz="1400" dirty="0">
                <a:solidFill>
                  <a:srgbClr val="356535"/>
                </a:solidFill>
                <a:latin typeface="Aptos" panose="020B0004020202020204" pitchFamily="34" charset="0"/>
                <a:ea typeface="等线" panose="02010600030101010101" pitchFamily="2" charset="-122"/>
              </a:rPr>
              <a:t>Deploy</a:t>
            </a:r>
          </a:p>
        </p:txBody>
      </p:sp>
      <p:sp>
        <p:nvSpPr>
          <p:cNvPr id="48" name="文本框 47">
            <a:extLst>
              <a:ext uri="{FF2B5EF4-FFF2-40B4-BE49-F238E27FC236}">
                <a16:creationId xmlns:a16="http://schemas.microsoft.com/office/drawing/2014/main" id="{8D2C00F1-023B-DCAA-1C7F-984765919F52}"/>
              </a:ext>
            </a:extLst>
          </p:cNvPr>
          <p:cNvSpPr txBox="1"/>
          <p:nvPr/>
        </p:nvSpPr>
        <p:spPr>
          <a:xfrm>
            <a:off x="3061992" y="4544442"/>
            <a:ext cx="817284" cy="307777"/>
          </a:xfrm>
          <a:prstGeom prst="rect">
            <a:avLst/>
          </a:prstGeom>
          <a:noFill/>
        </p:spPr>
        <p:txBody>
          <a:bodyPr wrap="square" rtlCol="0">
            <a:spAutoFit/>
          </a:bodyPr>
          <a:lstStyle/>
          <a:p>
            <a:pPr algn="ctr"/>
            <a:r>
              <a:rPr lang="en-US" altLang="zh-CN" sz="1400" dirty="0">
                <a:solidFill>
                  <a:srgbClr val="DA5219"/>
                </a:solidFill>
                <a:latin typeface="Aptos" panose="020B0004020202020204" pitchFamily="34" charset="0"/>
                <a:ea typeface="等线" panose="02010600030101010101" pitchFamily="2" charset="-122"/>
              </a:rPr>
              <a:t>Support</a:t>
            </a:r>
          </a:p>
        </p:txBody>
      </p:sp>
      <p:sp>
        <p:nvSpPr>
          <p:cNvPr id="50" name="矩形: 圆角 49">
            <a:extLst>
              <a:ext uri="{FF2B5EF4-FFF2-40B4-BE49-F238E27FC236}">
                <a16:creationId xmlns:a16="http://schemas.microsoft.com/office/drawing/2014/main" id="{F83296E3-09AE-6EDD-C0A8-5567ECF83D0A}"/>
              </a:ext>
            </a:extLst>
          </p:cNvPr>
          <p:cNvSpPr/>
          <p:nvPr/>
        </p:nvSpPr>
        <p:spPr>
          <a:xfrm>
            <a:off x="237004" y="5506580"/>
            <a:ext cx="3783299" cy="3253371"/>
          </a:xfrm>
          <a:prstGeom prst="roundRect">
            <a:avLst>
              <a:gd name="adj" fmla="val 5217"/>
            </a:avLst>
          </a:prstGeom>
          <a:noFill/>
          <a:ln w="12700">
            <a:solidFill>
              <a:srgbClr val="6D43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7AC077A2-3AB3-B282-6736-9C542D933202}"/>
              </a:ext>
            </a:extLst>
          </p:cNvPr>
          <p:cNvSpPr txBox="1"/>
          <p:nvPr/>
        </p:nvSpPr>
        <p:spPr>
          <a:xfrm>
            <a:off x="93865" y="5602395"/>
            <a:ext cx="4073965" cy="338554"/>
          </a:xfrm>
          <a:prstGeom prst="rect">
            <a:avLst/>
          </a:prstGeom>
          <a:noFill/>
        </p:spPr>
        <p:txBody>
          <a:bodyPr wrap="square" rtlCol="0">
            <a:spAutoFit/>
          </a:bodyPr>
          <a:lstStyle/>
          <a:p>
            <a:pPr algn="ctr"/>
            <a:r>
              <a:rPr lang="fr-FR" altLang="zh-CN" sz="1600" dirty="0">
                <a:solidFill>
                  <a:srgbClr val="6D43B1"/>
                </a:solidFill>
                <a:latin typeface="Aptos Display" panose="020B0004020202020204" pitchFamily="34" charset="0"/>
                <a:ea typeface="黑体" panose="02010609060101010101" pitchFamily="49" charset="-122"/>
              </a:rPr>
              <a:t>3.Temporal Event Chain Reconstruction</a:t>
            </a:r>
          </a:p>
        </p:txBody>
      </p:sp>
      <p:sp>
        <p:nvSpPr>
          <p:cNvPr id="60" name="矩形: 圆角 59">
            <a:extLst>
              <a:ext uri="{FF2B5EF4-FFF2-40B4-BE49-F238E27FC236}">
                <a16:creationId xmlns:a16="http://schemas.microsoft.com/office/drawing/2014/main" id="{46A0F266-3322-A0B4-C3C0-E3E6CCC4ADDE}"/>
              </a:ext>
            </a:extLst>
          </p:cNvPr>
          <p:cNvSpPr/>
          <p:nvPr/>
        </p:nvSpPr>
        <p:spPr>
          <a:xfrm>
            <a:off x="351373" y="6069864"/>
            <a:ext cx="3595525" cy="997535"/>
          </a:xfrm>
          <a:prstGeom prst="roundRect">
            <a:avLst>
              <a:gd name="adj" fmla="val 7268"/>
            </a:avLst>
          </a:prstGeom>
          <a:no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BCF97557-5A50-9745-BFFC-CE9AFD2CEE69}"/>
              </a:ext>
            </a:extLst>
          </p:cNvPr>
          <p:cNvSpPr txBox="1"/>
          <p:nvPr/>
        </p:nvSpPr>
        <p:spPr>
          <a:xfrm>
            <a:off x="273814" y="6082866"/>
            <a:ext cx="3673084" cy="523220"/>
          </a:xfrm>
          <a:prstGeom prst="rect">
            <a:avLst/>
          </a:prstGeom>
          <a:noFill/>
        </p:spPr>
        <p:txBody>
          <a:bodyPr wrap="square" rtlCol="0">
            <a:spAutoFit/>
          </a:bodyPr>
          <a:lstStyle/>
          <a:p>
            <a:pPr algn="ctr"/>
            <a:r>
              <a:rPr lang="en-US" altLang="zh-CN" sz="1400" dirty="0">
                <a:latin typeface="Aptos" panose="020B0004020202020204" pitchFamily="34" charset="0"/>
              </a:rPr>
              <a:t>Reconstruct the event chain based on temporal order</a:t>
            </a:r>
          </a:p>
        </p:txBody>
      </p:sp>
      <p:sp>
        <p:nvSpPr>
          <p:cNvPr id="76" name="文本框 75">
            <a:extLst>
              <a:ext uri="{FF2B5EF4-FFF2-40B4-BE49-F238E27FC236}">
                <a16:creationId xmlns:a16="http://schemas.microsoft.com/office/drawing/2014/main" id="{64A623D7-09BE-21F9-BE4A-C5A7DF189F5E}"/>
              </a:ext>
            </a:extLst>
          </p:cNvPr>
          <p:cNvSpPr txBox="1"/>
          <p:nvPr/>
        </p:nvSpPr>
        <p:spPr>
          <a:xfrm>
            <a:off x="557502" y="6644228"/>
            <a:ext cx="1127552" cy="261610"/>
          </a:xfrm>
          <a:prstGeom prst="rect">
            <a:avLst/>
          </a:prstGeom>
          <a:noFill/>
        </p:spPr>
        <p:txBody>
          <a:bodyPr wrap="square" rtlCol="0">
            <a:spAutoFit/>
          </a:bodyPr>
          <a:lstStyle/>
          <a:p>
            <a:pPr algn="ctr"/>
            <a:r>
              <a:rPr lang="en-US" altLang="zh-CN" sz="1100" dirty="0">
                <a:solidFill>
                  <a:srgbClr val="315BD4"/>
                </a:solidFill>
                <a:latin typeface="Aptos" panose="020B0004020202020204" pitchFamily="34" charset="0"/>
              </a:rPr>
              <a:t>Manoeuvre</a:t>
            </a:r>
          </a:p>
        </p:txBody>
      </p:sp>
      <p:sp>
        <p:nvSpPr>
          <p:cNvPr id="78" name="文本框 77">
            <a:extLst>
              <a:ext uri="{FF2B5EF4-FFF2-40B4-BE49-F238E27FC236}">
                <a16:creationId xmlns:a16="http://schemas.microsoft.com/office/drawing/2014/main" id="{86D6A935-EEB7-2B8C-D233-16B0B7802ECF}"/>
              </a:ext>
            </a:extLst>
          </p:cNvPr>
          <p:cNvSpPr txBox="1"/>
          <p:nvPr/>
        </p:nvSpPr>
        <p:spPr>
          <a:xfrm>
            <a:off x="2095172" y="6646960"/>
            <a:ext cx="634924" cy="261610"/>
          </a:xfrm>
          <a:prstGeom prst="rect">
            <a:avLst/>
          </a:prstGeom>
          <a:noFill/>
        </p:spPr>
        <p:txBody>
          <a:bodyPr wrap="square" rtlCol="0">
            <a:spAutoFit/>
          </a:bodyPr>
          <a:lstStyle/>
          <a:p>
            <a:pPr algn="ctr"/>
            <a:r>
              <a:rPr lang="en-US" altLang="zh-CN" sz="1100" dirty="0">
                <a:solidFill>
                  <a:srgbClr val="356535"/>
                </a:solidFill>
                <a:latin typeface="Aptos" panose="020B0004020202020204" pitchFamily="34" charset="0"/>
              </a:rPr>
              <a:t>Deploy</a:t>
            </a:r>
          </a:p>
        </p:txBody>
      </p:sp>
      <p:sp>
        <p:nvSpPr>
          <p:cNvPr id="80" name="文本框 79">
            <a:extLst>
              <a:ext uri="{FF2B5EF4-FFF2-40B4-BE49-F238E27FC236}">
                <a16:creationId xmlns:a16="http://schemas.microsoft.com/office/drawing/2014/main" id="{43A8DD7F-1414-2802-3BB7-188EAD3EA882}"/>
              </a:ext>
            </a:extLst>
          </p:cNvPr>
          <p:cNvSpPr txBox="1"/>
          <p:nvPr/>
        </p:nvSpPr>
        <p:spPr>
          <a:xfrm>
            <a:off x="3256376" y="6646702"/>
            <a:ext cx="680048" cy="261610"/>
          </a:xfrm>
          <a:prstGeom prst="rect">
            <a:avLst/>
          </a:prstGeom>
          <a:noFill/>
        </p:spPr>
        <p:txBody>
          <a:bodyPr wrap="square" rtlCol="0">
            <a:spAutoFit/>
          </a:bodyPr>
          <a:lstStyle/>
          <a:p>
            <a:pPr algn="ctr"/>
            <a:r>
              <a:rPr lang="en-US" altLang="zh-CN" sz="1100" dirty="0">
                <a:solidFill>
                  <a:srgbClr val="DA5219"/>
                </a:solidFill>
                <a:latin typeface="Aptos" panose="020B0004020202020204" pitchFamily="34" charset="0"/>
                <a:cs typeface="Arial" panose="020B0604020202020204" pitchFamily="34" charset="0"/>
              </a:rPr>
              <a:t>Support</a:t>
            </a:r>
          </a:p>
        </p:txBody>
      </p:sp>
      <p:pic>
        <p:nvPicPr>
          <p:cNvPr id="86" name="图片 85">
            <a:extLst>
              <a:ext uri="{FF2B5EF4-FFF2-40B4-BE49-F238E27FC236}">
                <a16:creationId xmlns:a16="http://schemas.microsoft.com/office/drawing/2014/main" id="{F07B8E04-894C-2F02-854D-E48BE356E902}"/>
              </a:ext>
            </a:extLst>
          </p:cNvPr>
          <p:cNvPicPr>
            <a:picLocks noChangeAspect="1"/>
          </p:cNvPicPr>
          <p:nvPr/>
        </p:nvPicPr>
        <p:blipFill>
          <a:blip r:embed="rId6"/>
          <a:stretch>
            <a:fillRect/>
          </a:stretch>
        </p:blipFill>
        <p:spPr>
          <a:xfrm>
            <a:off x="428557" y="6574561"/>
            <a:ext cx="374650" cy="431801"/>
          </a:xfrm>
          <a:prstGeom prst="rect">
            <a:avLst/>
          </a:prstGeom>
        </p:spPr>
      </p:pic>
      <p:pic>
        <p:nvPicPr>
          <p:cNvPr id="88" name="图片 87">
            <a:extLst>
              <a:ext uri="{FF2B5EF4-FFF2-40B4-BE49-F238E27FC236}">
                <a16:creationId xmlns:a16="http://schemas.microsoft.com/office/drawing/2014/main" id="{62324E41-E7EC-16DD-271F-710ADF2007EF}"/>
              </a:ext>
            </a:extLst>
          </p:cNvPr>
          <p:cNvPicPr>
            <a:picLocks noChangeAspect="1"/>
          </p:cNvPicPr>
          <p:nvPr/>
        </p:nvPicPr>
        <p:blipFill>
          <a:blip r:embed="rId7"/>
          <a:stretch>
            <a:fillRect/>
          </a:stretch>
        </p:blipFill>
        <p:spPr>
          <a:xfrm>
            <a:off x="1833869" y="6579034"/>
            <a:ext cx="374650" cy="431801"/>
          </a:xfrm>
          <a:prstGeom prst="rect">
            <a:avLst/>
          </a:prstGeom>
        </p:spPr>
      </p:pic>
      <p:pic>
        <p:nvPicPr>
          <p:cNvPr id="92" name="图片 91">
            <a:extLst>
              <a:ext uri="{FF2B5EF4-FFF2-40B4-BE49-F238E27FC236}">
                <a16:creationId xmlns:a16="http://schemas.microsoft.com/office/drawing/2014/main" id="{162A783B-7A29-FEDC-C8C5-BC2E5B3144FE}"/>
              </a:ext>
            </a:extLst>
          </p:cNvPr>
          <p:cNvPicPr>
            <a:picLocks noChangeAspect="1"/>
          </p:cNvPicPr>
          <p:nvPr/>
        </p:nvPicPr>
        <p:blipFill>
          <a:blip r:embed="rId8"/>
          <a:stretch>
            <a:fillRect/>
          </a:stretch>
        </p:blipFill>
        <p:spPr>
          <a:xfrm>
            <a:off x="2989898" y="6579034"/>
            <a:ext cx="374650" cy="431801"/>
          </a:xfrm>
          <a:prstGeom prst="rect">
            <a:avLst/>
          </a:prstGeom>
        </p:spPr>
      </p:pic>
      <p:pic>
        <p:nvPicPr>
          <p:cNvPr id="97" name="图片 96">
            <a:extLst>
              <a:ext uri="{FF2B5EF4-FFF2-40B4-BE49-F238E27FC236}">
                <a16:creationId xmlns:a16="http://schemas.microsoft.com/office/drawing/2014/main" id="{46A6CAA9-1F1D-A314-62BC-935457EDA5EB}"/>
              </a:ext>
            </a:extLst>
          </p:cNvPr>
          <p:cNvPicPr>
            <a:picLocks noChangeAspect="1"/>
          </p:cNvPicPr>
          <p:nvPr/>
        </p:nvPicPr>
        <p:blipFill>
          <a:blip r:embed="rId9"/>
          <a:stretch>
            <a:fillRect/>
          </a:stretch>
        </p:blipFill>
        <p:spPr>
          <a:xfrm>
            <a:off x="1508240" y="6735369"/>
            <a:ext cx="362024" cy="110180"/>
          </a:xfrm>
          <a:prstGeom prst="rect">
            <a:avLst/>
          </a:prstGeom>
        </p:spPr>
      </p:pic>
      <p:sp>
        <p:nvSpPr>
          <p:cNvPr id="103" name="文本框 102">
            <a:extLst>
              <a:ext uri="{FF2B5EF4-FFF2-40B4-BE49-F238E27FC236}">
                <a16:creationId xmlns:a16="http://schemas.microsoft.com/office/drawing/2014/main" id="{1C8C0ACA-20F6-4EEB-C6E1-E180A9AE5FF5}"/>
              </a:ext>
            </a:extLst>
          </p:cNvPr>
          <p:cNvSpPr txBox="1"/>
          <p:nvPr/>
        </p:nvSpPr>
        <p:spPr>
          <a:xfrm>
            <a:off x="308849" y="7238184"/>
            <a:ext cx="2129276" cy="261610"/>
          </a:xfrm>
          <a:prstGeom prst="rect">
            <a:avLst/>
          </a:prstGeom>
          <a:noFill/>
        </p:spPr>
        <p:txBody>
          <a:bodyPr wrap="square" rtlCol="0">
            <a:spAutoFit/>
          </a:bodyPr>
          <a:lstStyle/>
          <a:p>
            <a:pPr algn="ctr"/>
            <a:r>
              <a:rPr lang="en-US" altLang="zh-CN" sz="1100" b="1" dirty="0">
                <a:latin typeface="Aptos" panose="020B0004020202020204" pitchFamily="34" charset="0"/>
              </a:rPr>
              <a:t>Vector recall</a:t>
            </a:r>
            <a:r>
              <a:rPr lang="en-US" altLang="zh-CN" sz="1100" dirty="0">
                <a:latin typeface="Aptos" panose="020B0004020202020204" pitchFamily="34" charset="0"/>
              </a:rPr>
              <a:t>: No relevant event</a:t>
            </a:r>
          </a:p>
        </p:txBody>
      </p:sp>
      <p:sp>
        <p:nvSpPr>
          <p:cNvPr id="107" name="文本框 106">
            <a:extLst>
              <a:ext uri="{FF2B5EF4-FFF2-40B4-BE49-F238E27FC236}">
                <a16:creationId xmlns:a16="http://schemas.microsoft.com/office/drawing/2014/main" id="{786C2D3E-EAA1-3145-FBF7-96290D3454AA}"/>
              </a:ext>
            </a:extLst>
          </p:cNvPr>
          <p:cNvSpPr txBox="1"/>
          <p:nvPr/>
        </p:nvSpPr>
        <p:spPr>
          <a:xfrm>
            <a:off x="308849" y="7575030"/>
            <a:ext cx="3703538" cy="261610"/>
          </a:xfrm>
          <a:prstGeom prst="rect">
            <a:avLst/>
          </a:prstGeom>
          <a:noFill/>
        </p:spPr>
        <p:txBody>
          <a:bodyPr wrap="square" rtlCol="0">
            <a:spAutoFit/>
          </a:bodyPr>
          <a:lstStyle/>
          <a:p>
            <a:r>
              <a:rPr lang="en-US" altLang="zh-CN" sz="1100" b="1" dirty="0">
                <a:latin typeface="Aptos" panose="020B0004020202020204" pitchFamily="34" charset="0"/>
              </a:rPr>
              <a:t>Reordered event chain</a:t>
            </a:r>
            <a:r>
              <a:rPr lang="en-US" altLang="zh-CN" sz="1100" dirty="0">
                <a:latin typeface="Aptos" panose="020B0004020202020204" pitchFamily="34" charset="0"/>
              </a:rPr>
              <a:t>: Deploy → Manoeuvre → Support</a:t>
            </a:r>
          </a:p>
        </p:txBody>
      </p:sp>
      <p:sp>
        <p:nvSpPr>
          <p:cNvPr id="111" name="文本框 110">
            <a:extLst>
              <a:ext uri="{FF2B5EF4-FFF2-40B4-BE49-F238E27FC236}">
                <a16:creationId xmlns:a16="http://schemas.microsoft.com/office/drawing/2014/main" id="{D95B5D89-853D-C4C8-5A21-D980E11D002F}"/>
              </a:ext>
            </a:extLst>
          </p:cNvPr>
          <p:cNvSpPr txBox="1"/>
          <p:nvPr/>
        </p:nvSpPr>
        <p:spPr>
          <a:xfrm>
            <a:off x="317618" y="7921839"/>
            <a:ext cx="3586265" cy="769441"/>
          </a:xfrm>
          <a:prstGeom prst="rect">
            <a:avLst/>
          </a:prstGeom>
          <a:noFill/>
        </p:spPr>
        <p:txBody>
          <a:bodyPr wrap="square" rtlCol="0">
            <a:spAutoFit/>
          </a:bodyPr>
          <a:lstStyle/>
          <a:p>
            <a:r>
              <a:rPr lang="en-US" altLang="zh-CN" sz="1100" b="1" dirty="0">
                <a:latin typeface="Aptos" panose="020B0004020202020204" pitchFamily="34" charset="0"/>
              </a:rPr>
              <a:t>Vector supplementation</a:t>
            </a:r>
            <a:r>
              <a:rPr lang="en-US" altLang="zh-CN" sz="1100" dirty="0">
                <a:latin typeface="Aptos" panose="020B0004020202020204" pitchFamily="34" charset="0"/>
              </a:rPr>
              <a:t>:</a:t>
            </a:r>
          </a:p>
          <a:p>
            <a:r>
              <a:rPr lang="en-US" altLang="zh-CN" sz="1100" dirty="0">
                <a:latin typeface="Aptos" panose="020B0004020202020204" pitchFamily="34" charset="0"/>
              </a:rPr>
              <a:t>Add the extracted event. After argument extraction is completed, further supplement relevant information into the vector database.</a:t>
            </a:r>
          </a:p>
        </p:txBody>
      </p:sp>
      <p:sp>
        <p:nvSpPr>
          <p:cNvPr id="113" name="矩形: 圆角 112">
            <a:extLst>
              <a:ext uri="{FF2B5EF4-FFF2-40B4-BE49-F238E27FC236}">
                <a16:creationId xmlns:a16="http://schemas.microsoft.com/office/drawing/2014/main" id="{D8AF8A96-6737-5BF3-2416-4048CE546BF6}"/>
              </a:ext>
            </a:extLst>
          </p:cNvPr>
          <p:cNvSpPr/>
          <p:nvPr/>
        </p:nvSpPr>
        <p:spPr>
          <a:xfrm>
            <a:off x="4252155" y="3389765"/>
            <a:ext cx="5804995" cy="5370187"/>
          </a:xfrm>
          <a:prstGeom prst="roundRect">
            <a:avLst>
              <a:gd name="adj" fmla="val 1939"/>
            </a:avLst>
          </a:prstGeom>
          <a:noFill/>
          <a:ln w="12700">
            <a:solidFill>
              <a:srgbClr val="315B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圆角 114">
            <a:extLst>
              <a:ext uri="{FF2B5EF4-FFF2-40B4-BE49-F238E27FC236}">
                <a16:creationId xmlns:a16="http://schemas.microsoft.com/office/drawing/2014/main" id="{186931BF-6B30-0A26-DEEC-EEB220ECD423}"/>
              </a:ext>
            </a:extLst>
          </p:cNvPr>
          <p:cNvSpPr/>
          <p:nvPr/>
        </p:nvSpPr>
        <p:spPr>
          <a:xfrm>
            <a:off x="10282058" y="3389764"/>
            <a:ext cx="1763396" cy="5370188"/>
          </a:xfrm>
          <a:prstGeom prst="roundRect">
            <a:avLst>
              <a:gd name="adj" fmla="val 7268"/>
            </a:avLst>
          </a:prstGeom>
          <a:no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文本框 116">
            <a:extLst>
              <a:ext uri="{FF2B5EF4-FFF2-40B4-BE49-F238E27FC236}">
                <a16:creationId xmlns:a16="http://schemas.microsoft.com/office/drawing/2014/main" id="{E76FD230-C242-0C05-9474-929114D883BA}"/>
              </a:ext>
            </a:extLst>
          </p:cNvPr>
          <p:cNvSpPr txBox="1"/>
          <p:nvPr/>
        </p:nvSpPr>
        <p:spPr>
          <a:xfrm>
            <a:off x="4082207" y="3409479"/>
            <a:ext cx="6199851" cy="338554"/>
          </a:xfrm>
          <a:prstGeom prst="rect">
            <a:avLst/>
          </a:prstGeom>
          <a:noFill/>
        </p:spPr>
        <p:txBody>
          <a:bodyPr wrap="square" rtlCol="0">
            <a:spAutoFit/>
          </a:bodyPr>
          <a:lstStyle/>
          <a:p>
            <a:pPr algn="ctr"/>
            <a:r>
              <a:rPr lang="en-US" altLang="zh-CN" sz="1600" dirty="0">
                <a:solidFill>
                  <a:srgbClr val="315BD4"/>
                </a:solidFill>
                <a:latin typeface="Aptos Display" panose="020B0004020202020204" pitchFamily="34" charset="0"/>
                <a:ea typeface="黑体" panose="02010609060101010101" pitchFamily="49" charset="-122"/>
              </a:rPr>
              <a:t>4. Detailed Target Trajectory Extraction &amp; Argument Resolution</a:t>
            </a:r>
          </a:p>
        </p:txBody>
      </p:sp>
      <p:pic>
        <p:nvPicPr>
          <p:cNvPr id="10" name="图片 9">
            <a:extLst>
              <a:ext uri="{FF2B5EF4-FFF2-40B4-BE49-F238E27FC236}">
                <a16:creationId xmlns:a16="http://schemas.microsoft.com/office/drawing/2014/main" id="{BC715FC8-54E4-BFC9-EB1B-F6F50052B6AE}"/>
              </a:ext>
            </a:extLst>
          </p:cNvPr>
          <p:cNvPicPr>
            <a:picLocks noChangeAspect="1"/>
          </p:cNvPicPr>
          <p:nvPr/>
        </p:nvPicPr>
        <p:blipFill>
          <a:blip r:embed="rId9"/>
          <a:stretch>
            <a:fillRect/>
          </a:stretch>
        </p:blipFill>
        <p:spPr>
          <a:xfrm>
            <a:off x="2680167" y="6740218"/>
            <a:ext cx="362024" cy="110180"/>
          </a:xfrm>
          <a:prstGeom prst="rect">
            <a:avLst/>
          </a:prstGeom>
        </p:spPr>
      </p:pic>
      <p:sp>
        <p:nvSpPr>
          <p:cNvPr id="23" name="矩形: 圆角 22">
            <a:extLst>
              <a:ext uri="{FF2B5EF4-FFF2-40B4-BE49-F238E27FC236}">
                <a16:creationId xmlns:a16="http://schemas.microsoft.com/office/drawing/2014/main" id="{CC0E8DCC-1C0D-D940-6581-3F422A360CCE}"/>
              </a:ext>
            </a:extLst>
          </p:cNvPr>
          <p:cNvSpPr/>
          <p:nvPr/>
        </p:nvSpPr>
        <p:spPr>
          <a:xfrm>
            <a:off x="4413124" y="5204116"/>
            <a:ext cx="5439037" cy="3461863"/>
          </a:xfrm>
          <a:prstGeom prst="roundRect">
            <a:avLst>
              <a:gd name="adj" fmla="val 2041"/>
            </a:avLst>
          </a:prstGeom>
          <a:no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4C56B05B-149C-A1D9-A3C1-077AFF8F2EE1}"/>
              </a:ext>
            </a:extLst>
          </p:cNvPr>
          <p:cNvSpPr/>
          <p:nvPr/>
        </p:nvSpPr>
        <p:spPr>
          <a:xfrm>
            <a:off x="4407341" y="3822644"/>
            <a:ext cx="5444820" cy="1094941"/>
          </a:xfrm>
          <a:prstGeom prst="roundRect">
            <a:avLst>
              <a:gd name="adj" fmla="val 7268"/>
            </a:avLst>
          </a:prstGeom>
          <a:noFill/>
          <a:ln w="12700">
            <a:solidFill>
              <a:srgbClr val="3565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9AF1509A-AA65-D8CC-4DC9-2F36C2080F15}"/>
              </a:ext>
            </a:extLst>
          </p:cNvPr>
          <p:cNvSpPr txBox="1"/>
          <p:nvPr/>
        </p:nvSpPr>
        <p:spPr>
          <a:xfrm>
            <a:off x="4252155" y="6855958"/>
            <a:ext cx="1700470" cy="400110"/>
          </a:xfrm>
          <a:prstGeom prst="rect">
            <a:avLst/>
          </a:prstGeom>
          <a:noFill/>
        </p:spPr>
        <p:txBody>
          <a:bodyPr wrap="square" rtlCol="0">
            <a:spAutoFit/>
          </a:bodyPr>
          <a:lstStyle/>
          <a:p>
            <a:pPr algn="ctr"/>
            <a:r>
              <a:rPr lang="en-US" altLang="zh-CN" sz="1000" dirty="0">
                <a:solidFill>
                  <a:srgbClr val="315BD4"/>
                </a:solidFill>
                <a:latin typeface="Aptos" panose="020B0004020202020204" pitchFamily="34" charset="0"/>
              </a:rPr>
              <a:t>Manoeuvre</a:t>
            </a:r>
          </a:p>
          <a:p>
            <a:pPr algn="ctr"/>
            <a:r>
              <a:rPr lang="en-US" altLang="zh-CN" sz="1000" dirty="0">
                <a:solidFill>
                  <a:srgbClr val="315BD4"/>
                </a:solidFill>
                <a:latin typeface="Aptos" panose="020B0004020202020204" pitchFamily="34" charset="0"/>
              </a:rPr>
              <a:t>Argument extraction</a:t>
            </a:r>
          </a:p>
        </p:txBody>
      </p:sp>
      <p:sp>
        <p:nvSpPr>
          <p:cNvPr id="35" name="文本框 34">
            <a:extLst>
              <a:ext uri="{FF2B5EF4-FFF2-40B4-BE49-F238E27FC236}">
                <a16:creationId xmlns:a16="http://schemas.microsoft.com/office/drawing/2014/main" id="{8401202F-9DCB-7DCC-8A8A-92B60AED29BE}"/>
              </a:ext>
            </a:extLst>
          </p:cNvPr>
          <p:cNvSpPr txBox="1"/>
          <p:nvPr/>
        </p:nvSpPr>
        <p:spPr>
          <a:xfrm>
            <a:off x="5882284" y="5264274"/>
            <a:ext cx="3985909" cy="1005019"/>
          </a:xfrm>
          <a:prstGeom prst="rect">
            <a:avLst/>
          </a:prstGeom>
          <a:noFill/>
        </p:spPr>
        <p:txBody>
          <a:bodyPr wrap="square" rtlCol="0">
            <a:spAutoFit/>
          </a:bodyPr>
          <a:lstStyle/>
          <a:p>
            <a:pPr>
              <a:lnSpc>
                <a:spcPct val="120000"/>
              </a:lnSpc>
            </a:pPr>
            <a:r>
              <a:rPr lang="en-US" altLang="zh-CN" sz="1000" dirty="0">
                <a:latin typeface="Aptos" panose="020B0004020202020204" pitchFamily="34" charset="0"/>
              </a:rPr>
              <a:t>Subject: [“E_USNAVY”]</a:t>
            </a:r>
            <a:br>
              <a:rPr lang="en-US" altLang="zh-CN" sz="1000" dirty="0">
                <a:latin typeface="Aptos" panose="020B0004020202020204" pitchFamily="34" charset="0"/>
              </a:rPr>
            </a:br>
            <a:r>
              <a:rPr lang="en-US" altLang="zh-CN" sz="1000" dirty="0">
                <a:latin typeface="Aptos" panose="020B0004020202020204" pitchFamily="34" charset="0"/>
              </a:rPr>
              <a:t>Militaryforce: [“E_SAIPAN”]</a:t>
            </a:r>
            <a:br>
              <a:rPr lang="en-US" altLang="zh-CN" sz="1000" dirty="0">
                <a:latin typeface="Aptos" panose="020B0004020202020204" pitchFamily="34" charset="0"/>
              </a:rPr>
            </a:br>
            <a:r>
              <a:rPr lang="en-US" altLang="zh-CN" sz="1000" dirty="0">
                <a:latin typeface="Aptos" panose="020B0004020202020204" pitchFamily="34" charset="0"/>
              </a:rPr>
              <a:t>Date: [“November 3”]</a:t>
            </a:r>
            <a:br>
              <a:rPr lang="en-US" altLang="zh-CN" sz="1000" dirty="0">
                <a:latin typeface="Aptos" panose="020B0004020202020204" pitchFamily="34" charset="0"/>
              </a:rPr>
            </a:br>
            <a:r>
              <a:rPr lang="en-US" altLang="zh-CN" sz="1000" dirty="0">
                <a:latin typeface="Aptos" panose="020B0004020202020204" pitchFamily="34" charset="0"/>
              </a:rPr>
              <a:t>Via: [“Gulf of Aden”, “Persian Gulf”, “Gulf of Oman”, “Red Sea”]</a:t>
            </a:r>
          </a:p>
          <a:p>
            <a:pPr>
              <a:lnSpc>
                <a:spcPct val="120000"/>
              </a:lnSpc>
            </a:pPr>
            <a:r>
              <a:rPr lang="en-US" altLang="zh-CN" sz="1000" dirty="0">
                <a:latin typeface="Aptos" panose="020B0004020202020204" pitchFamily="34" charset="0"/>
              </a:rPr>
              <a:t>Destination: [“M-country Navy Fifth Fleet area of operations”]</a:t>
            </a:r>
          </a:p>
        </p:txBody>
      </p:sp>
      <p:sp>
        <p:nvSpPr>
          <p:cNvPr id="37" name="文本框 36">
            <a:extLst>
              <a:ext uri="{FF2B5EF4-FFF2-40B4-BE49-F238E27FC236}">
                <a16:creationId xmlns:a16="http://schemas.microsoft.com/office/drawing/2014/main" id="{5E232FD3-4BFA-50FE-E05B-4F199658E855}"/>
              </a:ext>
            </a:extLst>
          </p:cNvPr>
          <p:cNvSpPr txBox="1"/>
          <p:nvPr/>
        </p:nvSpPr>
        <p:spPr>
          <a:xfrm>
            <a:off x="4268817" y="4289298"/>
            <a:ext cx="1044588" cy="400110"/>
          </a:xfrm>
          <a:prstGeom prst="rect">
            <a:avLst/>
          </a:prstGeom>
          <a:noFill/>
        </p:spPr>
        <p:txBody>
          <a:bodyPr wrap="square" rtlCol="0">
            <a:spAutoFit/>
          </a:bodyPr>
          <a:lstStyle/>
          <a:p>
            <a:pPr algn="ctr"/>
            <a:r>
              <a:rPr lang="en-US" altLang="zh-CN" sz="1000" dirty="0">
                <a:solidFill>
                  <a:srgbClr val="356535"/>
                </a:solidFill>
                <a:latin typeface="Aptos" panose="020B0004020202020204" pitchFamily="34" charset="0"/>
              </a:rPr>
              <a:t>Conference Resolution</a:t>
            </a:r>
          </a:p>
        </p:txBody>
      </p:sp>
      <p:pic>
        <p:nvPicPr>
          <p:cNvPr id="45" name="图片 44">
            <a:extLst>
              <a:ext uri="{FF2B5EF4-FFF2-40B4-BE49-F238E27FC236}">
                <a16:creationId xmlns:a16="http://schemas.microsoft.com/office/drawing/2014/main" id="{1E0D5FEF-A660-125A-0BBD-9D83CC025395}"/>
              </a:ext>
            </a:extLst>
          </p:cNvPr>
          <p:cNvPicPr>
            <a:picLocks noChangeAspect="1"/>
          </p:cNvPicPr>
          <p:nvPr/>
        </p:nvPicPr>
        <p:blipFill>
          <a:blip r:embed="rId10"/>
          <a:stretch>
            <a:fillRect/>
          </a:stretch>
        </p:blipFill>
        <p:spPr>
          <a:xfrm>
            <a:off x="4646517" y="3975190"/>
            <a:ext cx="323696" cy="323696"/>
          </a:xfrm>
          <a:prstGeom prst="rect">
            <a:avLst/>
          </a:prstGeom>
        </p:spPr>
      </p:pic>
      <p:pic>
        <p:nvPicPr>
          <p:cNvPr id="56" name="图片 55">
            <a:extLst>
              <a:ext uri="{FF2B5EF4-FFF2-40B4-BE49-F238E27FC236}">
                <a16:creationId xmlns:a16="http://schemas.microsoft.com/office/drawing/2014/main" id="{69A90642-EDEE-8037-9486-F31E376A7A07}"/>
              </a:ext>
            </a:extLst>
          </p:cNvPr>
          <p:cNvPicPr>
            <a:picLocks noChangeAspect="1"/>
          </p:cNvPicPr>
          <p:nvPr/>
        </p:nvPicPr>
        <p:blipFill>
          <a:blip r:embed="rId3"/>
          <a:stretch>
            <a:fillRect/>
          </a:stretch>
        </p:blipFill>
        <p:spPr>
          <a:xfrm>
            <a:off x="4884989" y="6518872"/>
            <a:ext cx="336710" cy="336710"/>
          </a:xfrm>
          <a:prstGeom prst="rect">
            <a:avLst/>
          </a:prstGeom>
        </p:spPr>
      </p:pic>
      <p:cxnSp>
        <p:nvCxnSpPr>
          <p:cNvPr id="59" name="直接连接符 58">
            <a:extLst>
              <a:ext uri="{FF2B5EF4-FFF2-40B4-BE49-F238E27FC236}">
                <a16:creationId xmlns:a16="http://schemas.microsoft.com/office/drawing/2014/main" id="{B105CED2-02AD-EC2F-403A-08540D759EAC}"/>
              </a:ext>
            </a:extLst>
          </p:cNvPr>
          <p:cNvCxnSpPr>
            <a:cxnSpLocks/>
          </p:cNvCxnSpPr>
          <p:nvPr/>
        </p:nvCxnSpPr>
        <p:spPr>
          <a:xfrm flipV="1">
            <a:off x="5922334" y="6285550"/>
            <a:ext cx="3858739" cy="14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3B6D026-2D99-DC01-D6F9-107482F1C516}"/>
              </a:ext>
            </a:extLst>
          </p:cNvPr>
          <p:cNvCxnSpPr>
            <a:cxnSpLocks/>
          </p:cNvCxnSpPr>
          <p:nvPr/>
        </p:nvCxnSpPr>
        <p:spPr>
          <a:xfrm flipH="1">
            <a:off x="6005555" y="7464383"/>
            <a:ext cx="3775518" cy="5084"/>
          </a:xfrm>
          <a:prstGeom prst="line">
            <a:avLst/>
          </a:prstGeom>
        </p:spPr>
        <p:style>
          <a:lnRef idx="1">
            <a:schemeClr val="accent1"/>
          </a:lnRef>
          <a:fillRef idx="0">
            <a:schemeClr val="accent1"/>
          </a:fillRef>
          <a:effectRef idx="0">
            <a:schemeClr val="accent1"/>
          </a:effectRef>
          <a:fontRef idx="minor">
            <a:schemeClr val="tx1"/>
          </a:fontRef>
        </p:style>
      </p:cxnSp>
      <p:pic>
        <p:nvPicPr>
          <p:cNvPr id="64" name="图片 63">
            <a:extLst>
              <a:ext uri="{FF2B5EF4-FFF2-40B4-BE49-F238E27FC236}">
                <a16:creationId xmlns:a16="http://schemas.microsoft.com/office/drawing/2014/main" id="{253205A0-3FE7-03AD-4643-D595C79F331B}"/>
              </a:ext>
            </a:extLst>
          </p:cNvPr>
          <p:cNvPicPr>
            <a:picLocks noChangeAspect="1"/>
          </p:cNvPicPr>
          <p:nvPr/>
        </p:nvPicPr>
        <p:blipFill>
          <a:blip r:embed="rId4"/>
          <a:stretch>
            <a:fillRect/>
          </a:stretch>
        </p:blipFill>
        <p:spPr>
          <a:xfrm>
            <a:off x="4884989" y="5385495"/>
            <a:ext cx="336522" cy="243979"/>
          </a:xfrm>
          <a:prstGeom prst="rect">
            <a:avLst/>
          </a:prstGeom>
        </p:spPr>
      </p:pic>
      <p:sp>
        <p:nvSpPr>
          <p:cNvPr id="66" name="文本框 65">
            <a:extLst>
              <a:ext uri="{FF2B5EF4-FFF2-40B4-BE49-F238E27FC236}">
                <a16:creationId xmlns:a16="http://schemas.microsoft.com/office/drawing/2014/main" id="{48C45128-1E5D-E4FE-C554-7A6C29E20C6D}"/>
              </a:ext>
            </a:extLst>
          </p:cNvPr>
          <p:cNvSpPr txBox="1"/>
          <p:nvPr/>
        </p:nvSpPr>
        <p:spPr>
          <a:xfrm>
            <a:off x="4208135" y="5610798"/>
            <a:ext cx="1746873" cy="400110"/>
          </a:xfrm>
          <a:prstGeom prst="rect">
            <a:avLst/>
          </a:prstGeom>
          <a:noFill/>
        </p:spPr>
        <p:txBody>
          <a:bodyPr wrap="square" rtlCol="0">
            <a:spAutoFit/>
          </a:bodyPr>
          <a:lstStyle/>
          <a:p>
            <a:pPr algn="ctr"/>
            <a:r>
              <a:rPr lang="en-US" altLang="zh-CN" sz="1000" dirty="0">
                <a:solidFill>
                  <a:srgbClr val="356535"/>
                </a:solidFill>
                <a:latin typeface="Aptos" panose="020B0004020202020204" pitchFamily="34" charset="0"/>
              </a:rPr>
              <a:t>Deploy</a:t>
            </a:r>
          </a:p>
          <a:p>
            <a:pPr algn="ctr"/>
            <a:r>
              <a:rPr lang="en-US" altLang="zh-CN" sz="1000" dirty="0">
                <a:solidFill>
                  <a:srgbClr val="356535"/>
                </a:solidFill>
                <a:latin typeface="Aptos" panose="020B0004020202020204" pitchFamily="34" charset="0"/>
              </a:rPr>
              <a:t>Argument extraction</a:t>
            </a:r>
          </a:p>
        </p:txBody>
      </p:sp>
      <p:pic>
        <p:nvPicPr>
          <p:cNvPr id="68" name="图片 67">
            <a:extLst>
              <a:ext uri="{FF2B5EF4-FFF2-40B4-BE49-F238E27FC236}">
                <a16:creationId xmlns:a16="http://schemas.microsoft.com/office/drawing/2014/main" id="{C0C1530F-1DD0-7814-0A53-05F9951413D9}"/>
              </a:ext>
            </a:extLst>
          </p:cNvPr>
          <p:cNvPicPr>
            <a:picLocks noChangeAspect="1"/>
          </p:cNvPicPr>
          <p:nvPr/>
        </p:nvPicPr>
        <p:blipFill>
          <a:blip r:embed="rId5"/>
          <a:stretch>
            <a:fillRect/>
          </a:stretch>
        </p:blipFill>
        <p:spPr>
          <a:xfrm>
            <a:off x="4904200" y="7652812"/>
            <a:ext cx="298099" cy="367656"/>
          </a:xfrm>
          <a:prstGeom prst="rect">
            <a:avLst/>
          </a:prstGeom>
        </p:spPr>
      </p:pic>
      <p:sp>
        <p:nvSpPr>
          <p:cNvPr id="70" name="文本框 69">
            <a:extLst>
              <a:ext uri="{FF2B5EF4-FFF2-40B4-BE49-F238E27FC236}">
                <a16:creationId xmlns:a16="http://schemas.microsoft.com/office/drawing/2014/main" id="{4D699660-B4B8-5BEE-9892-B2C4DD0540FF}"/>
              </a:ext>
            </a:extLst>
          </p:cNvPr>
          <p:cNvSpPr txBox="1"/>
          <p:nvPr/>
        </p:nvSpPr>
        <p:spPr>
          <a:xfrm>
            <a:off x="4322702" y="8017102"/>
            <a:ext cx="1537745" cy="400110"/>
          </a:xfrm>
          <a:prstGeom prst="rect">
            <a:avLst/>
          </a:prstGeom>
          <a:noFill/>
        </p:spPr>
        <p:txBody>
          <a:bodyPr wrap="square" rtlCol="0">
            <a:spAutoFit/>
          </a:bodyPr>
          <a:lstStyle/>
          <a:p>
            <a:pPr algn="ctr"/>
            <a:r>
              <a:rPr lang="en-US" altLang="zh-CN" sz="1000" dirty="0">
                <a:solidFill>
                  <a:srgbClr val="DA5219"/>
                </a:solidFill>
                <a:latin typeface="Aptos" panose="020B0004020202020204" pitchFamily="34" charset="0"/>
              </a:rPr>
              <a:t>Support</a:t>
            </a:r>
          </a:p>
          <a:p>
            <a:pPr algn="ctr"/>
            <a:r>
              <a:rPr lang="en-US" altLang="zh-CN" sz="1000" dirty="0">
                <a:solidFill>
                  <a:srgbClr val="DA5219"/>
                </a:solidFill>
                <a:latin typeface="Aptos" panose="020B0004020202020204" pitchFamily="34" charset="0"/>
              </a:rPr>
              <a:t>Argument extraction</a:t>
            </a:r>
          </a:p>
        </p:txBody>
      </p:sp>
      <p:sp>
        <p:nvSpPr>
          <p:cNvPr id="72" name="文本框 71">
            <a:extLst>
              <a:ext uri="{FF2B5EF4-FFF2-40B4-BE49-F238E27FC236}">
                <a16:creationId xmlns:a16="http://schemas.microsoft.com/office/drawing/2014/main" id="{6F6B5C48-6ACD-4D00-715E-B8962858141A}"/>
              </a:ext>
            </a:extLst>
          </p:cNvPr>
          <p:cNvSpPr txBox="1"/>
          <p:nvPr/>
        </p:nvSpPr>
        <p:spPr>
          <a:xfrm>
            <a:off x="5074663" y="3824532"/>
            <a:ext cx="4796710" cy="1079911"/>
          </a:xfrm>
          <a:prstGeom prst="rect">
            <a:avLst/>
          </a:prstGeom>
          <a:noFill/>
        </p:spPr>
        <p:txBody>
          <a:bodyPr wrap="square" rtlCol="0">
            <a:spAutoFit/>
          </a:bodyPr>
          <a:lstStyle/>
          <a:p>
            <a:pPr>
              <a:lnSpc>
                <a:spcPct val="120000"/>
              </a:lnSpc>
            </a:pPr>
            <a:r>
              <a:rPr lang="en-US" altLang="zh-CN" sz="900" dirty="0">
                <a:latin typeface="Aptos" panose="020B0004020202020204" pitchFamily="34" charset="0"/>
              </a:rPr>
              <a:t>E_SAIPAN: “M-country Navy amphibious assault ship Saipan”/ “Saipan”</a:t>
            </a:r>
            <a:br>
              <a:rPr lang="en-US" altLang="zh-CN" sz="900" dirty="0">
                <a:latin typeface="Aptos" panose="020B0004020202020204" pitchFamily="34" charset="0"/>
              </a:rPr>
            </a:br>
            <a:r>
              <a:rPr lang="en-US" altLang="zh-CN" sz="900" dirty="0">
                <a:latin typeface="Aptos" panose="020B0004020202020204" pitchFamily="34" charset="0"/>
              </a:rPr>
              <a:t>E_HM15: “Helicopter Mine Countermeasures Squadron 15”/ “HM-15 Blackhawks”/ “HM-15”</a:t>
            </a:r>
            <a:br>
              <a:rPr lang="en-US" altLang="zh-CN" sz="900" dirty="0">
                <a:latin typeface="Aptos" panose="020B0004020202020204" pitchFamily="34" charset="0"/>
              </a:rPr>
            </a:br>
            <a:r>
              <a:rPr lang="en-US" altLang="zh-CN" sz="900" dirty="0">
                <a:latin typeface="Aptos" panose="020B0004020202020204" pitchFamily="34" charset="0"/>
              </a:rPr>
              <a:t>E_PERSIAN_GULF: “Persian Gulf”</a:t>
            </a:r>
          </a:p>
          <a:p>
            <a:pPr>
              <a:lnSpc>
                <a:spcPct val="120000"/>
              </a:lnSpc>
            </a:pPr>
            <a:r>
              <a:rPr lang="en-US" altLang="zh-CN" sz="900" dirty="0">
                <a:latin typeface="Aptos" panose="020B0004020202020204" pitchFamily="34" charset="0"/>
              </a:rPr>
              <a:t>E_MK105: “MK-105 magnetic-influence minesweeping system”/ “sled”</a:t>
            </a:r>
          </a:p>
          <a:p>
            <a:pPr>
              <a:lnSpc>
                <a:spcPct val="120000"/>
              </a:lnSpc>
            </a:pPr>
            <a:r>
              <a:rPr lang="en-US" altLang="zh-CN" sz="900" dirty="0">
                <a:latin typeface="Aptos" panose="020B0004020202020204" pitchFamily="34" charset="0"/>
              </a:rPr>
              <a:t>E_MH53E: “HM-53E Sea Dragon helicopter”</a:t>
            </a:r>
            <a:br>
              <a:rPr lang="en-US" altLang="zh-CN" sz="900" dirty="0">
                <a:latin typeface="Aptos" panose="020B0004020202020204" pitchFamily="34" charset="0"/>
              </a:rPr>
            </a:br>
            <a:r>
              <a:rPr lang="en-US" altLang="zh-CN" sz="900" dirty="0">
                <a:latin typeface="Aptos" panose="020B0004020202020204" pitchFamily="34" charset="0"/>
              </a:rPr>
              <a:t>E_USNAVY_5TH_FLEET: “M-country Navy Fifth Fleet”</a:t>
            </a:r>
          </a:p>
        </p:txBody>
      </p:sp>
      <p:sp>
        <p:nvSpPr>
          <p:cNvPr id="74" name="文本框 73">
            <a:extLst>
              <a:ext uri="{FF2B5EF4-FFF2-40B4-BE49-F238E27FC236}">
                <a16:creationId xmlns:a16="http://schemas.microsoft.com/office/drawing/2014/main" id="{9990F327-F29A-CEC8-C1AE-A793C0F02F20}"/>
              </a:ext>
            </a:extLst>
          </p:cNvPr>
          <p:cNvSpPr txBox="1"/>
          <p:nvPr/>
        </p:nvSpPr>
        <p:spPr>
          <a:xfrm>
            <a:off x="5882284" y="6494216"/>
            <a:ext cx="3941369" cy="820353"/>
          </a:xfrm>
          <a:prstGeom prst="rect">
            <a:avLst/>
          </a:prstGeom>
          <a:noFill/>
        </p:spPr>
        <p:txBody>
          <a:bodyPr wrap="square" rtlCol="0">
            <a:spAutoFit/>
          </a:bodyPr>
          <a:lstStyle/>
          <a:p>
            <a:pPr>
              <a:lnSpc>
                <a:spcPct val="120000"/>
              </a:lnSpc>
            </a:pPr>
            <a:r>
              <a:rPr lang="en-US" altLang="zh-CN" sz="1000" dirty="0">
                <a:latin typeface="Aptos" panose="020B0004020202020204" pitchFamily="34" charset="0"/>
              </a:rPr>
              <a:t>Subject: [“E_SAIPAN”, “E_HM15”]</a:t>
            </a:r>
            <a:br>
              <a:rPr lang="en-US" altLang="zh-CN" sz="1000" dirty="0">
                <a:latin typeface="Aptos" panose="020B0004020202020204" pitchFamily="34" charset="0"/>
              </a:rPr>
            </a:br>
            <a:r>
              <a:rPr lang="en-US" altLang="zh-CN" sz="1000" dirty="0">
                <a:latin typeface="Aptos" panose="020B0004020202020204" pitchFamily="34" charset="0"/>
              </a:rPr>
              <a:t>Content: [“demonstration of minesweeping capability”]</a:t>
            </a:r>
            <a:br>
              <a:rPr lang="en-US" altLang="zh-CN" sz="1000" dirty="0">
                <a:latin typeface="Aptos" panose="020B0004020202020204" pitchFamily="34" charset="0"/>
              </a:rPr>
            </a:br>
            <a:r>
              <a:rPr lang="en-US" altLang="zh-CN" sz="1000" dirty="0">
                <a:latin typeface="Aptos" panose="020B0004020202020204" pitchFamily="34" charset="0"/>
              </a:rPr>
              <a:t>Date: [“November 7”]</a:t>
            </a:r>
            <a:br>
              <a:rPr lang="en-US" altLang="zh-CN" sz="1000" dirty="0">
                <a:latin typeface="Aptos" panose="020B0004020202020204" pitchFamily="34" charset="0"/>
              </a:rPr>
            </a:br>
            <a:r>
              <a:rPr lang="en-US" altLang="zh-CN" sz="1000" dirty="0">
                <a:latin typeface="Aptos" panose="020B0004020202020204" pitchFamily="34" charset="0"/>
              </a:rPr>
              <a:t>Via: [“E_PERSIAN_GULF”]</a:t>
            </a:r>
          </a:p>
        </p:txBody>
      </p:sp>
      <p:sp>
        <p:nvSpPr>
          <p:cNvPr id="77" name="文本框 76">
            <a:extLst>
              <a:ext uri="{FF2B5EF4-FFF2-40B4-BE49-F238E27FC236}">
                <a16:creationId xmlns:a16="http://schemas.microsoft.com/office/drawing/2014/main" id="{6C75EFAB-E3C6-484B-BAA6-2CF6DE1F126E}"/>
              </a:ext>
            </a:extLst>
          </p:cNvPr>
          <p:cNvSpPr txBox="1"/>
          <p:nvPr/>
        </p:nvSpPr>
        <p:spPr>
          <a:xfrm>
            <a:off x="5882284" y="7648275"/>
            <a:ext cx="3879405" cy="635687"/>
          </a:xfrm>
          <a:prstGeom prst="rect">
            <a:avLst/>
          </a:prstGeom>
          <a:noFill/>
        </p:spPr>
        <p:txBody>
          <a:bodyPr wrap="square" rtlCol="0">
            <a:spAutoFit/>
          </a:bodyPr>
          <a:lstStyle/>
          <a:p>
            <a:pPr>
              <a:lnSpc>
                <a:spcPct val="120000"/>
              </a:lnSpc>
            </a:pPr>
            <a:r>
              <a:rPr lang="en-US" altLang="zh-CN" sz="1000" dirty="0">
                <a:latin typeface="Aptos" panose="020B0004020202020204" pitchFamily="34" charset="0"/>
              </a:rPr>
              <a:t>Subject: [“E_USNAVY_5TH_FLEET”, “E_SEPAN”]</a:t>
            </a:r>
            <a:br>
              <a:rPr lang="en-US" altLang="zh-CN" sz="1000" dirty="0">
                <a:latin typeface="Aptos" panose="020B0004020202020204" pitchFamily="34" charset="0"/>
              </a:rPr>
            </a:br>
            <a:r>
              <a:rPr lang="en-US" altLang="zh-CN" sz="1000" dirty="0">
                <a:latin typeface="Aptos" panose="020B0004020202020204" pitchFamily="34" charset="0"/>
              </a:rPr>
              <a:t>Result: [“maintain maritime safety and stability, support counterterrorism and regional security”]</a:t>
            </a:r>
          </a:p>
        </p:txBody>
      </p:sp>
      <p:cxnSp>
        <p:nvCxnSpPr>
          <p:cNvPr id="85" name="直接连接符 84">
            <a:extLst>
              <a:ext uri="{FF2B5EF4-FFF2-40B4-BE49-F238E27FC236}">
                <a16:creationId xmlns:a16="http://schemas.microsoft.com/office/drawing/2014/main" id="{3A3BEC51-A6E6-C3E8-357B-29B9A5EFDBFE}"/>
              </a:ext>
            </a:extLst>
          </p:cNvPr>
          <p:cNvCxnSpPr>
            <a:cxnSpLocks/>
          </p:cNvCxnSpPr>
          <p:nvPr/>
        </p:nvCxnSpPr>
        <p:spPr>
          <a:xfrm flipV="1">
            <a:off x="352752" y="7509832"/>
            <a:ext cx="3489760" cy="15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8DA0DA41-CDB8-4624-F664-E85BF70F8A1B}"/>
              </a:ext>
            </a:extLst>
          </p:cNvPr>
          <p:cNvCxnSpPr>
            <a:cxnSpLocks/>
          </p:cNvCxnSpPr>
          <p:nvPr/>
        </p:nvCxnSpPr>
        <p:spPr>
          <a:xfrm flipV="1">
            <a:off x="352752" y="7880802"/>
            <a:ext cx="3489760" cy="15147"/>
          </a:xfrm>
          <a:prstGeom prst="line">
            <a:avLst/>
          </a:prstGeom>
        </p:spPr>
        <p:style>
          <a:lnRef idx="1">
            <a:schemeClr val="accent1"/>
          </a:lnRef>
          <a:fillRef idx="0">
            <a:schemeClr val="accent1"/>
          </a:fillRef>
          <a:effectRef idx="0">
            <a:schemeClr val="accent1"/>
          </a:effectRef>
          <a:fontRef idx="minor">
            <a:schemeClr val="tx1"/>
          </a:fontRef>
        </p:style>
      </p:cxnSp>
      <p:sp>
        <p:nvSpPr>
          <p:cNvPr id="112" name="文本框 111">
            <a:extLst>
              <a:ext uri="{FF2B5EF4-FFF2-40B4-BE49-F238E27FC236}">
                <a16:creationId xmlns:a16="http://schemas.microsoft.com/office/drawing/2014/main" id="{C2F6398E-A67D-DCF4-9C15-D8E2A06D75AD}"/>
              </a:ext>
            </a:extLst>
          </p:cNvPr>
          <p:cNvSpPr txBox="1"/>
          <p:nvPr/>
        </p:nvSpPr>
        <p:spPr>
          <a:xfrm>
            <a:off x="10301270" y="3942829"/>
            <a:ext cx="1724971" cy="584775"/>
          </a:xfrm>
          <a:prstGeom prst="rect">
            <a:avLst/>
          </a:prstGeom>
          <a:noFill/>
        </p:spPr>
        <p:txBody>
          <a:bodyPr wrap="square" rtlCol="0">
            <a:spAutoFit/>
          </a:bodyPr>
          <a:lstStyle/>
          <a:p>
            <a:pPr algn="ctr"/>
            <a:r>
              <a:rPr lang="en-US" altLang="zh-CN" sz="1600" dirty="0">
                <a:latin typeface="Aptos" panose="020B0004020202020204" pitchFamily="34" charset="0"/>
                <a:ea typeface="黑体" panose="02010609060101010101" pitchFamily="49" charset="-122"/>
              </a:rPr>
              <a:t>5. Structured Output</a:t>
            </a:r>
          </a:p>
        </p:txBody>
      </p:sp>
      <p:pic>
        <p:nvPicPr>
          <p:cNvPr id="116" name="图形 115">
            <a:extLst>
              <a:ext uri="{FF2B5EF4-FFF2-40B4-BE49-F238E27FC236}">
                <a16:creationId xmlns:a16="http://schemas.microsoft.com/office/drawing/2014/main" id="{FCB9116B-F54A-A2C7-6B07-FC128AF8CF6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H="1">
            <a:off x="10909773" y="3453313"/>
            <a:ext cx="507969" cy="507969"/>
          </a:xfrm>
          <a:prstGeom prst="rect">
            <a:avLst/>
          </a:prstGeom>
        </p:spPr>
      </p:pic>
      <p:sp>
        <p:nvSpPr>
          <p:cNvPr id="120" name="文本框 119">
            <a:extLst>
              <a:ext uri="{FF2B5EF4-FFF2-40B4-BE49-F238E27FC236}">
                <a16:creationId xmlns:a16="http://schemas.microsoft.com/office/drawing/2014/main" id="{04EEFFD4-B246-1FC3-9149-5D0E375828B7}"/>
              </a:ext>
            </a:extLst>
          </p:cNvPr>
          <p:cNvSpPr txBox="1"/>
          <p:nvPr/>
        </p:nvSpPr>
        <p:spPr>
          <a:xfrm>
            <a:off x="10195674" y="4597534"/>
            <a:ext cx="1511056" cy="276999"/>
          </a:xfrm>
          <a:prstGeom prst="rect">
            <a:avLst/>
          </a:prstGeom>
          <a:noFill/>
        </p:spPr>
        <p:txBody>
          <a:bodyPr wrap="square" rtlCol="0">
            <a:spAutoFit/>
          </a:bodyPr>
          <a:lstStyle/>
          <a:p>
            <a:pPr algn="ctr"/>
            <a:r>
              <a:rPr lang="en-US" altLang="zh-CN" sz="1200" b="1" dirty="0">
                <a:latin typeface="Aptos" panose="020B0004020202020204" pitchFamily="34" charset="0"/>
              </a:rPr>
              <a:t>Output Content:</a:t>
            </a:r>
          </a:p>
        </p:txBody>
      </p:sp>
      <p:pic>
        <p:nvPicPr>
          <p:cNvPr id="124" name="图片 123">
            <a:extLst>
              <a:ext uri="{FF2B5EF4-FFF2-40B4-BE49-F238E27FC236}">
                <a16:creationId xmlns:a16="http://schemas.microsoft.com/office/drawing/2014/main" id="{02E0CF3C-99B8-9E13-FACC-BA4FA1CF92D3}"/>
              </a:ext>
            </a:extLst>
          </p:cNvPr>
          <p:cNvPicPr>
            <a:picLocks noChangeAspect="1"/>
          </p:cNvPicPr>
          <p:nvPr/>
        </p:nvPicPr>
        <p:blipFill>
          <a:blip r:embed="rId12"/>
          <a:stretch>
            <a:fillRect/>
          </a:stretch>
        </p:blipFill>
        <p:spPr>
          <a:xfrm>
            <a:off x="10518570" y="5043374"/>
            <a:ext cx="252019" cy="252019"/>
          </a:xfrm>
          <a:prstGeom prst="rect">
            <a:avLst/>
          </a:prstGeom>
        </p:spPr>
      </p:pic>
      <p:sp>
        <p:nvSpPr>
          <p:cNvPr id="126" name="文本框 125">
            <a:extLst>
              <a:ext uri="{FF2B5EF4-FFF2-40B4-BE49-F238E27FC236}">
                <a16:creationId xmlns:a16="http://schemas.microsoft.com/office/drawing/2014/main" id="{428A97C6-2BC2-F768-2209-CDDA51D390E1}"/>
              </a:ext>
            </a:extLst>
          </p:cNvPr>
          <p:cNvSpPr txBox="1"/>
          <p:nvPr/>
        </p:nvSpPr>
        <p:spPr>
          <a:xfrm>
            <a:off x="10751065" y="4944463"/>
            <a:ext cx="1121585" cy="430887"/>
          </a:xfrm>
          <a:prstGeom prst="rect">
            <a:avLst/>
          </a:prstGeom>
          <a:noFill/>
        </p:spPr>
        <p:txBody>
          <a:bodyPr wrap="square" rtlCol="0">
            <a:spAutoFit/>
          </a:bodyPr>
          <a:lstStyle/>
          <a:p>
            <a:pPr algn="ctr"/>
            <a:r>
              <a:rPr lang="en-US" altLang="zh-CN" sz="1100" dirty="0">
                <a:latin typeface="Aptos" panose="020B0004020202020204" pitchFamily="34" charset="0"/>
              </a:rPr>
              <a:t>Standardized Event Chain</a:t>
            </a:r>
          </a:p>
        </p:txBody>
      </p:sp>
      <p:pic>
        <p:nvPicPr>
          <p:cNvPr id="128" name="图片 127">
            <a:extLst>
              <a:ext uri="{FF2B5EF4-FFF2-40B4-BE49-F238E27FC236}">
                <a16:creationId xmlns:a16="http://schemas.microsoft.com/office/drawing/2014/main" id="{7277AF48-F7DD-BD1E-7F14-2F3A4CFF063E}"/>
              </a:ext>
            </a:extLst>
          </p:cNvPr>
          <p:cNvPicPr>
            <a:picLocks noChangeAspect="1"/>
          </p:cNvPicPr>
          <p:nvPr/>
        </p:nvPicPr>
        <p:blipFill>
          <a:blip r:embed="rId13"/>
          <a:stretch>
            <a:fillRect/>
          </a:stretch>
        </p:blipFill>
        <p:spPr>
          <a:xfrm>
            <a:off x="10511162" y="5565036"/>
            <a:ext cx="266837" cy="248727"/>
          </a:xfrm>
          <a:prstGeom prst="rect">
            <a:avLst/>
          </a:prstGeom>
        </p:spPr>
      </p:pic>
      <p:sp>
        <p:nvSpPr>
          <p:cNvPr id="130" name="文本框 129">
            <a:extLst>
              <a:ext uri="{FF2B5EF4-FFF2-40B4-BE49-F238E27FC236}">
                <a16:creationId xmlns:a16="http://schemas.microsoft.com/office/drawing/2014/main" id="{E41F3D15-36D3-EF40-5F47-2F2EE4A109BB}"/>
              </a:ext>
            </a:extLst>
          </p:cNvPr>
          <p:cNvSpPr txBox="1"/>
          <p:nvPr/>
        </p:nvSpPr>
        <p:spPr>
          <a:xfrm>
            <a:off x="10684863" y="5451544"/>
            <a:ext cx="1187787" cy="600164"/>
          </a:xfrm>
          <a:prstGeom prst="rect">
            <a:avLst/>
          </a:prstGeom>
          <a:noFill/>
        </p:spPr>
        <p:txBody>
          <a:bodyPr wrap="square" rtlCol="0">
            <a:spAutoFit/>
          </a:bodyPr>
          <a:lstStyle/>
          <a:p>
            <a:pPr algn="ctr"/>
            <a:r>
              <a:rPr lang="en-US" altLang="zh-CN" sz="1100" dirty="0">
                <a:latin typeface="Aptos" panose="020B0004020202020204" pitchFamily="34" charset="0"/>
              </a:rPr>
              <a:t>Structured Argument Information</a:t>
            </a:r>
          </a:p>
        </p:txBody>
      </p:sp>
      <p:sp>
        <p:nvSpPr>
          <p:cNvPr id="132" name="文本框 131">
            <a:extLst>
              <a:ext uri="{FF2B5EF4-FFF2-40B4-BE49-F238E27FC236}">
                <a16:creationId xmlns:a16="http://schemas.microsoft.com/office/drawing/2014/main" id="{5BA799D6-9E81-1308-5B43-D580B35A685A}"/>
              </a:ext>
            </a:extLst>
          </p:cNvPr>
          <p:cNvSpPr txBox="1"/>
          <p:nvPr/>
        </p:nvSpPr>
        <p:spPr>
          <a:xfrm>
            <a:off x="10221733" y="6193556"/>
            <a:ext cx="1461984" cy="276999"/>
          </a:xfrm>
          <a:prstGeom prst="rect">
            <a:avLst/>
          </a:prstGeom>
          <a:noFill/>
        </p:spPr>
        <p:txBody>
          <a:bodyPr wrap="square" rtlCol="0">
            <a:spAutoFit/>
          </a:bodyPr>
          <a:lstStyle/>
          <a:p>
            <a:pPr algn="ctr"/>
            <a:r>
              <a:rPr lang="en-US" altLang="zh-CN" sz="1200" b="1" dirty="0">
                <a:latin typeface="Aptos" panose="020B0004020202020204" pitchFamily="34" charset="0"/>
              </a:rPr>
              <a:t>Output Format:</a:t>
            </a:r>
          </a:p>
        </p:txBody>
      </p:sp>
      <p:pic>
        <p:nvPicPr>
          <p:cNvPr id="134" name="图片 133">
            <a:extLst>
              <a:ext uri="{FF2B5EF4-FFF2-40B4-BE49-F238E27FC236}">
                <a16:creationId xmlns:a16="http://schemas.microsoft.com/office/drawing/2014/main" id="{0B655614-3BA0-FAF1-F3B4-64FAEE5D4734}"/>
              </a:ext>
            </a:extLst>
          </p:cNvPr>
          <p:cNvPicPr>
            <a:picLocks noChangeAspect="1"/>
          </p:cNvPicPr>
          <p:nvPr/>
        </p:nvPicPr>
        <p:blipFill>
          <a:blip r:embed="rId14"/>
          <a:stretch>
            <a:fillRect/>
          </a:stretch>
        </p:blipFill>
        <p:spPr>
          <a:xfrm>
            <a:off x="10499549" y="6624219"/>
            <a:ext cx="277000" cy="277000"/>
          </a:xfrm>
          <a:prstGeom prst="rect">
            <a:avLst/>
          </a:prstGeom>
        </p:spPr>
      </p:pic>
      <p:sp>
        <p:nvSpPr>
          <p:cNvPr id="136" name="文本框 135">
            <a:extLst>
              <a:ext uri="{FF2B5EF4-FFF2-40B4-BE49-F238E27FC236}">
                <a16:creationId xmlns:a16="http://schemas.microsoft.com/office/drawing/2014/main" id="{DBA547F0-883D-4E7A-AA5D-6069CEEF2CBC}"/>
              </a:ext>
            </a:extLst>
          </p:cNvPr>
          <p:cNvSpPr txBox="1"/>
          <p:nvPr/>
        </p:nvSpPr>
        <p:spPr>
          <a:xfrm>
            <a:off x="10837142" y="6644210"/>
            <a:ext cx="689168" cy="261610"/>
          </a:xfrm>
          <a:prstGeom prst="rect">
            <a:avLst/>
          </a:prstGeom>
          <a:noFill/>
        </p:spPr>
        <p:txBody>
          <a:bodyPr wrap="square" rtlCol="0">
            <a:spAutoFit/>
          </a:bodyPr>
          <a:lstStyle/>
          <a:p>
            <a:r>
              <a:rPr lang="en-US" altLang="zh-CN" sz="1100" dirty="0">
                <a:latin typeface="Aptos" panose="020B0004020202020204" pitchFamily="34" charset="0"/>
                <a:cs typeface="Times New Roman" panose="02020603050405020304" pitchFamily="18" charset="0"/>
              </a:rPr>
              <a:t>JSON</a:t>
            </a:r>
          </a:p>
        </p:txBody>
      </p:sp>
      <p:pic>
        <p:nvPicPr>
          <p:cNvPr id="138" name="图片 137">
            <a:extLst>
              <a:ext uri="{FF2B5EF4-FFF2-40B4-BE49-F238E27FC236}">
                <a16:creationId xmlns:a16="http://schemas.microsoft.com/office/drawing/2014/main" id="{A81377EA-2392-5EB3-C859-D45A63F4F9BF}"/>
              </a:ext>
            </a:extLst>
          </p:cNvPr>
          <p:cNvPicPr>
            <a:picLocks noChangeAspect="1"/>
          </p:cNvPicPr>
          <p:nvPr/>
        </p:nvPicPr>
        <p:blipFill>
          <a:blip r:embed="rId15"/>
          <a:stretch>
            <a:fillRect/>
          </a:stretch>
        </p:blipFill>
        <p:spPr>
          <a:xfrm>
            <a:off x="10488718" y="7046391"/>
            <a:ext cx="287831" cy="287831"/>
          </a:xfrm>
          <a:prstGeom prst="rect">
            <a:avLst/>
          </a:prstGeom>
        </p:spPr>
      </p:pic>
      <p:sp>
        <p:nvSpPr>
          <p:cNvPr id="140" name="文本框 139">
            <a:extLst>
              <a:ext uri="{FF2B5EF4-FFF2-40B4-BE49-F238E27FC236}">
                <a16:creationId xmlns:a16="http://schemas.microsoft.com/office/drawing/2014/main" id="{B3BABE1C-E6C1-4213-EE80-A5EE0336C4D6}"/>
              </a:ext>
            </a:extLst>
          </p:cNvPr>
          <p:cNvSpPr txBox="1"/>
          <p:nvPr/>
        </p:nvSpPr>
        <p:spPr>
          <a:xfrm>
            <a:off x="10847629" y="7075045"/>
            <a:ext cx="479636" cy="261610"/>
          </a:xfrm>
          <a:prstGeom prst="rect">
            <a:avLst/>
          </a:prstGeom>
          <a:noFill/>
        </p:spPr>
        <p:txBody>
          <a:bodyPr wrap="square" rtlCol="0">
            <a:spAutoFit/>
          </a:bodyPr>
          <a:lstStyle/>
          <a:p>
            <a:r>
              <a:rPr lang="en-US" altLang="zh-CN" sz="1100" dirty="0">
                <a:latin typeface="Aptos" panose="020B0004020202020204" pitchFamily="34" charset="0"/>
                <a:cs typeface="Times New Roman" panose="02020603050405020304" pitchFamily="18" charset="0"/>
              </a:rPr>
              <a:t>PDF</a:t>
            </a:r>
          </a:p>
        </p:txBody>
      </p:sp>
      <p:pic>
        <p:nvPicPr>
          <p:cNvPr id="142" name="图片 141">
            <a:extLst>
              <a:ext uri="{FF2B5EF4-FFF2-40B4-BE49-F238E27FC236}">
                <a16:creationId xmlns:a16="http://schemas.microsoft.com/office/drawing/2014/main" id="{244F734F-1BC5-40A2-1706-DAD0ED00B8BF}"/>
              </a:ext>
            </a:extLst>
          </p:cNvPr>
          <p:cNvPicPr>
            <a:picLocks noChangeAspect="1"/>
          </p:cNvPicPr>
          <p:nvPr/>
        </p:nvPicPr>
        <p:blipFill>
          <a:blip r:embed="rId16"/>
          <a:stretch>
            <a:fillRect/>
          </a:stretch>
        </p:blipFill>
        <p:spPr>
          <a:xfrm>
            <a:off x="10433916" y="7531609"/>
            <a:ext cx="358694" cy="341747"/>
          </a:xfrm>
          <a:prstGeom prst="rect">
            <a:avLst/>
          </a:prstGeom>
        </p:spPr>
      </p:pic>
      <p:sp>
        <p:nvSpPr>
          <p:cNvPr id="144" name="文本框 143">
            <a:extLst>
              <a:ext uri="{FF2B5EF4-FFF2-40B4-BE49-F238E27FC236}">
                <a16:creationId xmlns:a16="http://schemas.microsoft.com/office/drawing/2014/main" id="{AC45404F-6DBA-78E3-1BE8-7697A386A96B}"/>
              </a:ext>
            </a:extLst>
          </p:cNvPr>
          <p:cNvSpPr txBox="1"/>
          <p:nvPr/>
        </p:nvSpPr>
        <p:spPr>
          <a:xfrm>
            <a:off x="10751065" y="7515692"/>
            <a:ext cx="1309016" cy="430887"/>
          </a:xfrm>
          <a:prstGeom prst="rect">
            <a:avLst/>
          </a:prstGeom>
          <a:noFill/>
        </p:spPr>
        <p:txBody>
          <a:bodyPr wrap="square" rtlCol="0">
            <a:spAutoFit/>
          </a:bodyPr>
          <a:lstStyle/>
          <a:p>
            <a:pPr algn="ctr"/>
            <a:r>
              <a:rPr lang="en-US" altLang="zh-CN" sz="1100" dirty="0">
                <a:latin typeface="Aptos" panose="020B0004020202020204" pitchFamily="34" charset="0"/>
                <a:cs typeface="Times New Roman" panose="02020603050405020304" pitchFamily="18" charset="0"/>
              </a:rPr>
              <a:t>Event Knowledge Graph</a:t>
            </a:r>
          </a:p>
        </p:txBody>
      </p:sp>
      <p:sp>
        <p:nvSpPr>
          <p:cNvPr id="146" name="文本框 145">
            <a:extLst>
              <a:ext uri="{FF2B5EF4-FFF2-40B4-BE49-F238E27FC236}">
                <a16:creationId xmlns:a16="http://schemas.microsoft.com/office/drawing/2014/main" id="{5B92591E-B994-D242-AA18-02AE15524C9D}"/>
              </a:ext>
            </a:extLst>
          </p:cNvPr>
          <p:cNvSpPr txBox="1"/>
          <p:nvPr/>
        </p:nvSpPr>
        <p:spPr>
          <a:xfrm>
            <a:off x="10394569" y="7972053"/>
            <a:ext cx="1683299" cy="430887"/>
          </a:xfrm>
          <a:prstGeom prst="rect">
            <a:avLst/>
          </a:prstGeom>
          <a:noFill/>
        </p:spPr>
        <p:txBody>
          <a:bodyPr wrap="square" rtlCol="0">
            <a:spAutoFit/>
          </a:bodyPr>
          <a:lstStyle/>
          <a:p>
            <a:r>
              <a:rPr lang="zh-CN" altLang="en-US" sz="1100" dirty="0">
                <a:latin typeface="Aptos" panose="020B0004020202020204" pitchFamily="34" charset="0"/>
                <a:cs typeface="Times New Roman" panose="02020603050405020304" pitchFamily="18" charset="0"/>
              </a:rPr>
              <a:t>（</a:t>
            </a:r>
            <a:r>
              <a:rPr lang="en-US" altLang="zh-CN" sz="1100" dirty="0">
                <a:latin typeface="Aptos" panose="020B0004020202020204" pitchFamily="34" charset="0"/>
                <a:cs typeface="Times New Roman" panose="02020603050405020304" pitchFamily="18" charset="0"/>
              </a:rPr>
              <a:t>Supports CCFA-standardized interfaces</a:t>
            </a:r>
            <a:r>
              <a:rPr lang="zh-CN" altLang="en-US" sz="1100" dirty="0">
                <a:latin typeface="Aptos" panose="020B0004020202020204" pitchFamily="34" charset="0"/>
                <a:cs typeface="Times New Roman" panose="02020603050405020304" pitchFamily="18" charset="0"/>
              </a:rPr>
              <a:t>）</a:t>
            </a:r>
          </a:p>
        </p:txBody>
      </p:sp>
      <p:pic>
        <p:nvPicPr>
          <p:cNvPr id="3" name="图形 2">
            <a:extLst>
              <a:ext uri="{FF2B5EF4-FFF2-40B4-BE49-F238E27FC236}">
                <a16:creationId xmlns:a16="http://schemas.microsoft.com/office/drawing/2014/main" id="{C789629D-F18A-40BC-89EE-9F4B158A1A7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945942" y="6134775"/>
            <a:ext cx="191101" cy="191101"/>
          </a:xfrm>
          <a:prstGeom prst="rect">
            <a:avLst/>
          </a:prstGeom>
        </p:spPr>
      </p:pic>
      <p:pic>
        <p:nvPicPr>
          <p:cNvPr id="28" name="图形 27">
            <a:extLst>
              <a:ext uri="{FF2B5EF4-FFF2-40B4-BE49-F238E27FC236}">
                <a16:creationId xmlns:a16="http://schemas.microsoft.com/office/drawing/2014/main" id="{7A9CDBD9-C873-5D21-28DE-B875B341481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945941" y="7386753"/>
            <a:ext cx="191101" cy="191101"/>
          </a:xfrm>
          <a:prstGeom prst="rect">
            <a:avLst/>
          </a:prstGeom>
        </p:spPr>
      </p:pic>
      <p:sp>
        <p:nvSpPr>
          <p:cNvPr id="8" name="箭头: 下 7">
            <a:extLst>
              <a:ext uri="{FF2B5EF4-FFF2-40B4-BE49-F238E27FC236}">
                <a16:creationId xmlns:a16="http://schemas.microsoft.com/office/drawing/2014/main" id="{52CB6BFD-8A3A-D405-C711-2F140881C3FA}"/>
              </a:ext>
            </a:extLst>
          </p:cNvPr>
          <p:cNvSpPr/>
          <p:nvPr/>
        </p:nvSpPr>
        <p:spPr>
          <a:xfrm>
            <a:off x="7127860" y="3124659"/>
            <a:ext cx="277526" cy="243680"/>
          </a:xfrm>
          <a:prstGeom prst="downArrow">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下 12">
            <a:extLst>
              <a:ext uri="{FF2B5EF4-FFF2-40B4-BE49-F238E27FC236}">
                <a16:creationId xmlns:a16="http://schemas.microsoft.com/office/drawing/2014/main" id="{C1C63504-319E-E93D-78F0-041EACCB69CC}"/>
              </a:ext>
            </a:extLst>
          </p:cNvPr>
          <p:cNvSpPr/>
          <p:nvPr/>
        </p:nvSpPr>
        <p:spPr>
          <a:xfrm>
            <a:off x="1865599" y="5242823"/>
            <a:ext cx="277526" cy="243680"/>
          </a:xfrm>
          <a:prstGeom prst="downArrow">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a:extLst>
              <a:ext uri="{FF2B5EF4-FFF2-40B4-BE49-F238E27FC236}">
                <a16:creationId xmlns:a16="http://schemas.microsoft.com/office/drawing/2014/main" id="{8949A9C5-B29E-5EB1-D0D2-545D3D06C475}"/>
              </a:ext>
            </a:extLst>
          </p:cNvPr>
          <p:cNvSpPr/>
          <p:nvPr/>
        </p:nvSpPr>
        <p:spPr>
          <a:xfrm>
            <a:off x="7127860" y="4939065"/>
            <a:ext cx="277526" cy="243680"/>
          </a:xfrm>
          <a:prstGeom prst="downArrow">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下 20">
            <a:extLst>
              <a:ext uri="{FF2B5EF4-FFF2-40B4-BE49-F238E27FC236}">
                <a16:creationId xmlns:a16="http://schemas.microsoft.com/office/drawing/2014/main" id="{D11315F8-9359-AA5B-9FE5-13078C6E5251}"/>
              </a:ext>
            </a:extLst>
          </p:cNvPr>
          <p:cNvSpPr/>
          <p:nvPr/>
        </p:nvSpPr>
        <p:spPr>
          <a:xfrm rot="16200000">
            <a:off x="3976615" y="6815537"/>
            <a:ext cx="316889" cy="202126"/>
          </a:xfrm>
          <a:prstGeom prst="downArrow">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3460BCC5-7996-AA5A-4614-7761B368DB24}"/>
              </a:ext>
            </a:extLst>
          </p:cNvPr>
          <p:cNvSpPr/>
          <p:nvPr/>
        </p:nvSpPr>
        <p:spPr>
          <a:xfrm rot="16200000">
            <a:off x="10011838" y="5859241"/>
            <a:ext cx="316889" cy="202126"/>
          </a:xfrm>
          <a:prstGeom prst="downArrow">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3349181"/>
      </p:ext>
    </p:extLst>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1172</TotalTime>
  <Words>571</Words>
  <Application>Microsoft Office PowerPoint</Application>
  <PresentationFormat>自定义</PresentationFormat>
  <Paragraphs>44</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Aptos</vt:lpstr>
      <vt:lpstr>Aptos Display</vt:lpstr>
      <vt:lpstr>Arial</vt:lpstr>
      <vt:lpstr>Calibri</vt:lpstr>
      <vt:lpstr>Calibri Light</vt:lpstr>
      <vt:lpstr>Office 2013 - 2022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shi'fang</dc:creator>
  <cp:lastModifiedBy>user</cp:lastModifiedBy>
  <cp:revision>172</cp:revision>
  <dcterms:created xsi:type="dcterms:W3CDTF">2023-08-09T12:44:00Z</dcterms:created>
  <dcterms:modified xsi:type="dcterms:W3CDTF">2026-06-13T09:04:36Z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