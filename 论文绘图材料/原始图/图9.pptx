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6535"/>
    <a:srgbClr val="DA5219"/>
    <a:srgbClr val="315BD4"/>
    <a:srgbClr val="6D43B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026" y="566"/>
      </p:cViewPr>
      <p:guideLst>
        <p:guide orient="horz" pos="283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43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5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6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50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02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66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6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142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8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23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18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06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11" Type="http://schemas.openxmlformats.org/officeDocument/2006/relationships/image" Target="../media/image10.svg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547DB6-DFD1-45AB-E963-8199B331AEBB}"/>
              </a:ext>
            </a:extLst>
          </p:cNvPr>
          <p:cNvSpPr/>
          <p:nvPr/>
        </p:nvSpPr>
        <p:spPr>
          <a:xfrm>
            <a:off x="899496" y="164237"/>
            <a:ext cx="10412361" cy="2284200"/>
          </a:xfrm>
          <a:prstGeom prst="roundRect">
            <a:avLst>
              <a:gd name="adj" fmla="val 406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4191791-6623-BC5B-5EAE-846B0044CD17}"/>
              </a:ext>
            </a:extLst>
          </p:cNvPr>
          <p:cNvSpPr/>
          <p:nvPr/>
        </p:nvSpPr>
        <p:spPr>
          <a:xfrm>
            <a:off x="231672" y="164236"/>
            <a:ext cx="11813781" cy="2307983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315B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7F0E7F-0867-1DA4-2944-172D1ECE6DA5}"/>
              </a:ext>
            </a:extLst>
          </p:cNvPr>
          <p:cNvSpPr txBox="1"/>
          <p:nvPr/>
        </p:nvSpPr>
        <p:spPr>
          <a:xfrm>
            <a:off x="3286923" y="164652"/>
            <a:ext cx="6452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1.</a:t>
            </a:r>
            <a:r>
              <a:rPr lang="zh-CN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文档级军事新闻输入（</a:t>
            </a:r>
            <a:r>
              <a:rPr lang="en-US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Document-level Military News Input</a:t>
            </a:r>
            <a:r>
              <a:rPr lang="zh-CN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）</a:t>
            </a:r>
            <a:endParaRPr lang="zh-CN" altLang="en-US" sz="1600" dirty="0">
              <a:solidFill>
                <a:srgbClr val="315BD4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5445BF-5780-B525-6734-ECF97EC7857C}"/>
              </a:ext>
            </a:extLst>
          </p:cNvPr>
          <p:cNvSpPr txBox="1"/>
          <p:nvPr/>
        </p:nvSpPr>
        <p:spPr>
          <a:xfrm>
            <a:off x="1624389" y="453636"/>
            <a:ext cx="10233061" cy="197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M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国海军两栖攻击舰塞班号，和直升机反水雷中队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15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黑鹰中队一起，成功地于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11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7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号在波斯湾完成了一项训练演习</a:t>
            </a:r>
            <a:r>
              <a:rPr lang="zh-CN" altLang="en-US" sz="1401" dirty="0">
                <a:latin typeface="Aptos" panose="020B0004020202020204" pitchFamily="34" charset="0"/>
                <a:ea typeface="黑体" panose="02010609060101010101" pitchFamily="49" charset="-122"/>
              </a:rPr>
              <a:t>。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HM-15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黑鹰中队人员驾驶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HM-53E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海龙直升机拖着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MK-105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磁感应扫雷系统，也就是众所周知的“雪橇”。</a:t>
            </a:r>
          </a:p>
          <a:p>
            <a:pPr>
              <a:spcAft>
                <a:spcPts val="400"/>
              </a:spcAft>
            </a:pP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雪橇是一种高速扫雷系统，他擅长于扫除磁感应和声感应水雷，执行任务更灵活、速度更快。许多年的经验证明，反水雷军事行动对海军是非常有用的，因为他们保护舰只和人员免受水中无形的威胁。</a:t>
            </a:r>
          </a:p>
          <a:p>
            <a:pPr>
              <a:spcAft>
                <a:spcPts val="400"/>
              </a:spcAft>
            </a:pP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HM-15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和雪橇一起，于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11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日装到塞班号上，这个演习标志着两个月内两次在波斯湾成功地演示了扫雷能力。塞班号目前部署在</a:t>
            </a:r>
            <a:r>
              <a:rPr lang="en-US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M</a:t>
            </a: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国海军第五舰队作战区，在亚丁湾、阿曼湾、波斯湾、阿拉伯海、红海和印度洋进行海事安全军事行动。</a:t>
            </a:r>
          </a:p>
          <a:p>
            <a:pPr>
              <a:spcAft>
                <a:spcPts val="400"/>
              </a:spcAft>
            </a:pPr>
            <a:r>
              <a:rPr lang="zh-CN" altLang="zh-CN" sz="1401" dirty="0">
                <a:latin typeface="Aptos" panose="020B0004020202020204" pitchFamily="34" charset="0"/>
                <a:ea typeface="黑体" panose="02010609060101010101" pitchFamily="49" charset="-122"/>
              </a:rPr>
              <a:t>海事安全军事行动有助于海上环境的安全和稳定，同时有助于反恐和地区安全。这些军事行动打击国际恐怖主义分子利用海洋进行攻击和运输人员、武器或者其他物资。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44664846-4CD5-03D4-A7A3-8DD1E19F0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671" y="807891"/>
            <a:ext cx="970908" cy="970908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A661296-1E16-9FD2-2D10-E553474B8DFA}"/>
              </a:ext>
            </a:extLst>
          </p:cNvPr>
          <p:cNvSpPr/>
          <p:nvPr/>
        </p:nvSpPr>
        <p:spPr>
          <a:xfrm>
            <a:off x="237003" y="2837302"/>
            <a:ext cx="3806957" cy="2127545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356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C7DA6-F2FD-6C3F-83A6-6AEAC670E562}"/>
              </a:ext>
            </a:extLst>
          </p:cNvPr>
          <p:cNvSpPr txBox="1"/>
          <p:nvPr/>
        </p:nvSpPr>
        <p:spPr>
          <a:xfrm>
            <a:off x="414851" y="2886771"/>
            <a:ext cx="3456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356535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2.</a:t>
            </a:r>
            <a:r>
              <a:rPr lang="zh-CN" altLang="zh-CN" sz="1600" dirty="0">
                <a:solidFill>
                  <a:srgbClr val="356535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目标相关事件检测</a:t>
            </a:r>
            <a:endParaRPr lang="en-US" altLang="zh-CN" sz="1600" dirty="0">
              <a:solidFill>
                <a:srgbClr val="356535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zh-CN" sz="1600" dirty="0">
                <a:solidFill>
                  <a:srgbClr val="356535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600" dirty="0">
                <a:solidFill>
                  <a:srgbClr val="356535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Target-related Event Detection</a:t>
            </a:r>
            <a:r>
              <a:rPr lang="zh-CN" altLang="zh-CN" sz="1600" dirty="0">
                <a:solidFill>
                  <a:srgbClr val="356535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）</a:t>
            </a:r>
            <a:endParaRPr lang="zh-CN" altLang="en-US" sz="1600" dirty="0">
              <a:solidFill>
                <a:srgbClr val="356535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59258C3F-8E5F-FA05-1CA8-B3499F5AD340}"/>
              </a:ext>
            </a:extLst>
          </p:cNvPr>
          <p:cNvSpPr/>
          <p:nvPr/>
        </p:nvSpPr>
        <p:spPr>
          <a:xfrm>
            <a:off x="1963050" y="2510682"/>
            <a:ext cx="308009" cy="298384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4307069E-8449-7FE3-5BA5-1CF04DD4F04C}"/>
              </a:ext>
            </a:extLst>
          </p:cNvPr>
          <p:cNvSpPr/>
          <p:nvPr/>
        </p:nvSpPr>
        <p:spPr>
          <a:xfrm>
            <a:off x="7101249" y="2516848"/>
            <a:ext cx="308009" cy="298384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04C32C-FBAF-416F-63F5-8B9D5909DBFC}"/>
              </a:ext>
            </a:extLst>
          </p:cNvPr>
          <p:cNvSpPr/>
          <p:nvPr/>
        </p:nvSpPr>
        <p:spPr>
          <a:xfrm>
            <a:off x="339302" y="3552076"/>
            <a:ext cx="3606345" cy="1259290"/>
          </a:xfrm>
          <a:prstGeom prst="roundRect">
            <a:avLst>
              <a:gd name="adj" fmla="val 7268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34B6A0-BC7E-CAA6-B766-8484A806A2D2}"/>
              </a:ext>
            </a:extLst>
          </p:cNvPr>
          <p:cNvSpPr txBox="1"/>
          <p:nvPr/>
        </p:nvSpPr>
        <p:spPr>
          <a:xfrm>
            <a:off x="305932" y="3568567"/>
            <a:ext cx="3673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检测到目标相关事件</a:t>
            </a:r>
            <a:endParaRPr lang="zh-CN" altLang="en-US" sz="1400" dirty="0">
              <a:solidFill>
                <a:srgbClr val="35653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6ABE51-C743-74F0-A9A7-D4905569E6DC}"/>
              </a:ext>
            </a:extLst>
          </p:cNvPr>
          <p:cNvSpPr txBox="1"/>
          <p:nvPr/>
        </p:nvSpPr>
        <p:spPr>
          <a:xfrm>
            <a:off x="275231" y="3859724"/>
            <a:ext cx="1582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事件检测结果：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8BB20A9-F01C-3B98-545C-E5ED1E367339}"/>
              </a:ext>
            </a:extLst>
          </p:cNvPr>
          <p:cNvSpPr/>
          <p:nvPr/>
        </p:nvSpPr>
        <p:spPr>
          <a:xfrm>
            <a:off x="432665" y="4191198"/>
            <a:ext cx="1095481" cy="481103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315B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DFCE850-62C0-7FD3-9A2B-A74F63533755}"/>
              </a:ext>
            </a:extLst>
          </p:cNvPr>
          <p:cNvSpPr/>
          <p:nvPr/>
        </p:nvSpPr>
        <p:spPr>
          <a:xfrm>
            <a:off x="1589857" y="4176427"/>
            <a:ext cx="1095481" cy="495872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356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BF9611A-878D-B8A3-782C-613A947C7E25}"/>
              </a:ext>
            </a:extLst>
          </p:cNvPr>
          <p:cNvSpPr/>
          <p:nvPr/>
        </p:nvSpPr>
        <p:spPr>
          <a:xfrm>
            <a:off x="2739183" y="4176429"/>
            <a:ext cx="1095481" cy="507187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DA52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4BAD178F-5568-B8B1-EE2E-65A9D94A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86" y="4260253"/>
            <a:ext cx="282955" cy="28295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2EDD18D-1A26-2D91-196C-7143B62DA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196" y="4290462"/>
            <a:ext cx="344306" cy="249623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E363300-F2BC-27AD-5F14-065B7DC99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2557" y="4289493"/>
            <a:ext cx="264795" cy="32658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DCC2AC52-5F48-D574-6A23-ABBA60567D7C}"/>
              </a:ext>
            </a:extLst>
          </p:cNvPr>
          <p:cNvSpPr txBox="1"/>
          <p:nvPr/>
        </p:nvSpPr>
        <p:spPr>
          <a:xfrm>
            <a:off x="518659" y="4222979"/>
            <a:ext cx="1095481" cy="46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演习</a:t>
            </a:r>
            <a:endParaRPr lang="en-US" altLang="zh-CN" sz="1201" dirty="0">
              <a:solidFill>
                <a:srgbClr val="315BD4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Manoeuvre</a:t>
            </a:r>
            <a:r>
              <a:rPr lang="zh-CN" altLang="en-US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endParaRPr lang="zh-CN" altLang="en-US" sz="1201" dirty="0">
              <a:solidFill>
                <a:srgbClr val="315BD4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8C4F456-96AC-D398-8819-A2AA2A9B484B}"/>
              </a:ext>
            </a:extLst>
          </p:cNvPr>
          <p:cNvSpPr txBox="1"/>
          <p:nvPr/>
        </p:nvSpPr>
        <p:spPr>
          <a:xfrm>
            <a:off x="1857505" y="4222916"/>
            <a:ext cx="874252" cy="4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部署</a:t>
            </a:r>
          </a:p>
          <a:p>
            <a:pPr algn="ctr"/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Deploy</a:t>
            </a:r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D2C00F1-023B-DCAA-1C7F-984765919F52}"/>
              </a:ext>
            </a:extLst>
          </p:cNvPr>
          <p:cNvSpPr txBox="1"/>
          <p:nvPr/>
        </p:nvSpPr>
        <p:spPr>
          <a:xfrm>
            <a:off x="3011177" y="4221949"/>
            <a:ext cx="874252" cy="4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支援</a:t>
            </a:r>
          </a:p>
          <a:p>
            <a:pPr algn="ctr"/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Support</a:t>
            </a:r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83296E3-09AE-6EDD-C0A8-5567ECF83D0A}"/>
              </a:ext>
            </a:extLst>
          </p:cNvPr>
          <p:cNvSpPr/>
          <p:nvPr/>
        </p:nvSpPr>
        <p:spPr>
          <a:xfrm>
            <a:off x="237003" y="5326190"/>
            <a:ext cx="3806957" cy="3185821"/>
          </a:xfrm>
          <a:prstGeom prst="roundRect">
            <a:avLst>
              <a:gd name="adj" fmla="val 5217"/>
            </a:avLst>
          </a:prstGeom>
          <a:noFill/>
          <a:ln w="12700">
            <a:solidFill>
              <a:srgbClr val="6D43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下 51">
            <a:extLst>
              <a:ext uri="{FF2B5EF4-FFF2-40B4-BE49-F238E27FC236}">
                <a16:creationId xmlns:a16="http://schemas.microsoft.com/office/drawing/2014/main" id="{DAA76921-EB22-D54A-921A-495F2D7876DD}"/>
              </a:ext>
            </a:extLst>
          </p:cNvPr>
          <p:cNvSpPr/>
          <p:nvPr/>
        </p:nvSpPr>
        <p:spPr>
          <a:xfrm>
            <a:off x="1960588" y="5001884"/>
            <a:ext cx="308009" cy="298384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AC077A2-3AB3-B282-6736-9C542D933202}"/>
              </a:ext>
            </a:extLst>
          </p:cNvPr>
          <p:cNvSpPr txBox="1"/>
          <p:nvPr/>
        </p:nvSpPr>
        <p:spPr>
          <a:xfrm>
            <a:off x="107450" y="5419735"/>
            <a:ext cx="407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6D43B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3.</a:t>
            </a:r>
            <a:r>
              <a:rPr lang="zh-CN" altLang="zh-CN" sz="1600" dirty="0">
                <a:solidFill>
                  <a:srgbClr val="6D43B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基于时序的事件链重构</a:t>
            </a:r>
            <a:endParaRPr lang="en-US" altLang="zh-CN" sz="1600" dirty="0">
              <a:solidFill>
                <a:srgbClr val="6D43B1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zh-CN" sz="1600" dirty="0">
                <a:solidFill>
                  <a:srgbClr val="6D43B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600" dirty="0">
                <a:solidFill>
                  <a:srgbClr val="6D43B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Temporal Event Chain Reconstruction</a:t>
            </a:r>
            <a:r>
              <a:rPr lang="zh-CN" altLang="en-US" sz="1600" dirty="0">
                <a:solidFill>
                  <a:srgbClr val="6D43B1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6A0F266-3322-A0B4-C3C0-E3E6CCC4ADDE}"/>
              </a:ext>
            </a:extLst>
          </p:cNvPr>
          <p:cNvSpPr/>
          <p:nvPr/>
        </p:nvSpPr>
        <p:spPr>
          <a:xfrm>
            <a:off x="344633" y="6050616"/>
            <a:ext cx="3595525" cy="1011780"/>
          </a:xfrm>
          <a:prstGeom prst="roundRect">
            <a:avLst>
              <a:gd name="adj" fmla="val 7268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CF97557-5A50-9745-BFFC-CE9AFD2CEE69}"/>
              </a:ext>
            </a:extLst>
          </p:cNvPr>
          <p:cNvSpPr txBox="1"/>
          <p:nvPr/>
        </p:nvSpPr>
        <p:spPr>
          <a:xfrm>
            <a:off x="198332" y="6070149"/>
            <a:ext cx="3673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基于时序重构事件链</a:t>
            </a:r>
            <a:endParaRPr lang="zh-CN" altLang="en-US" sz="1400" dirty="0">
              <a:solidFill>
                <a:srgbClr val="356535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4A623D7-09BE-21F9-BE4A-C5A7DF189F5E}"/>
              </a:ext>
            </a:extLst>
          </p:cNvPr>
          <p:cNvSpPr txBox="1"/>
          <p:nvPr/>
        </p:nvSpPr>
        <p:spPr>
          <a:xfrm>
            <a:off x="572786" y="6430099"/>
            <a:ext cx="120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演习</a:t>
            </a:r>
            <a:endParaRPr lang="en-US" altLang="zh-CN" sz="1201" dirty="0">
              <a:solidFill>
                <a:srgbClr val="315BD4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1201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1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Manoeuvre</a:t>
            </a:r>
            <a:r>
              <a:rPr lang="zh-CN" altLang="en-US" sz="1201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6D6A935-EEB7-2B8C-D233-16B0B7802ECF}"/>
              </a:ext>
            </a:extLst>
          </p:cNvPr>
          <p:cNvSpPr txBox="1"/>
          <p:nvPr/>
        </p:nvSpPr>
        <p:spPr>
          <a:xfrm>
            <a:off x="1778372" y="6441450"/>
            <a:ext cx="1004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部署</a:t>
            </a:r>
          </a:p>
          <a:p>
            <a:pPr algn="ctr"/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 Deploy </a:t>
            </a:r>
            <a:r>
              <a:rPr lang="zh-CN" altLang="en-US" sz="12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3A8DD7F-1414-2802-3BB7-188EAD3EA882}"/>
              </a:ext>
            </a:extLst>
          </p:cNvPr>
          <p:cNvSpPr txBox="1"/>
          <p:nvPr/>
        </p:nvSpPr>
        <p:spPr>
          <a:xfrm>
            <a:off x="2991103" y="6441542"/>
            <a:ext cx="95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支援</a:t>
            </a:r>
          </a:p>
          <a:p>
            <a:pPr algn="ctr"/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Support</a:t>
            </a:r>
            <a:r>
              <a:rPr lang="zh-CN" altLang="en-US" sz="1201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F07B8E04-894C-2F02-854D-E48BE356E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46" y="6380323"/>
            <a:ext cx="374650" cy="431801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62324E41-E7EC-16DD-271F-710ADF200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118" y="6380323"/>
            <a:ext cx="374650" cy="431801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162A783B-7A29-FEDC-C8C5-BC2E5B3144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1182" y="6384788"/>
            <a:ext cx="374650" cy="431801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46A6CAA9-1F1D-A314-62BC-935457EDA5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820" y="6531271"/>
            <a:ext cx="362024" cy="110180"/>
          </a:xfrm>
          <a:prstGeom prst="rect">
            <a:avLst/>
          </a:prstGeom>
        </p:spPr>
      </p:pic>
      <p:sp>
        <p:nvSpPr>
          <p:cNvPr id="103" name="文本框 102">
            <a:extLst>
              <a:ext uri="{FF2B5EF4-FFF2-40B4-BE49-F238E27FC236}">
                <a16:creationId xmlns:a16="http://schemas.microsoft.com/office/drawing/2014/main" id="{1C8C0ACA-20F6-4EEB-C6E1-E180A9AE5FF5}"/>
              </a:ext>
            </a:extLst>
          </p:cNvPr>
          <p:cNvSpPr txBox="1"/>
          <p:nvPr/>
        </p:nvSpPr>
        <p:spPr>
          <a:xfrm>
            <a:off x="203400" y="7159848"/>
            <a:ext cx="1941032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b="1" dirty="0">
                <a:latin typeface="Arial" panose="020B0604020202020204" pitchFamily="34" charset="0"/>
                <a:ea typeface="黑体" panose="02010609060101010101" pitchFamily="49" charset="-122"/>
              </a:rPr>
              <a:t>向量召回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zh-CN" altLang="zh-CN" sz="1200" dirty="0">
                <a:latin typeface="Arial" panose="020B0604020202020204" pitchFamily="34" charset="0"/>
                <a:ea typeface="黑体" panose="02010609060101010101" pitchFamily="49" charset="-122"/>
              </a:rPr>
              <a:t>无相关事件</a:t>
            </a:r>
            <a:endParaRPr lang="zh-CN" altLang="en-US" sz="1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86C2D3E-EAA1-3145-FBF7-96290D3454AA}"/>
              </a:ext>
            </a:extLst>
          </p:cNvPr>
          <p:cNvSpPr txBox="1"/>
          <p:nvPr/>
        </p:nvSpPr>
        <p:spPr>
          <a:xfrm>
            <a:off x="275231" y="7481113"/>
            <a:ext cx="4332607" cy="4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1" b="1" dirty="0">
                <a:latin typeface="Aptos" panose="020B0004020202020204" pitchFamily="34" charset="0"/>
                <a:ea typeface="黑体" panose="02010609060101010101" pitchFamily="49" charset="-122"/>
              </a:rPr>
              <a:t>重排序到链条</a:t>
            </a:r>
            <a:r>
              <a:rPr lang="zh-CN" altLang="en-US" sz="1201" b="1" dirty="0">
                <a:latin typeface="Aptos" panose="020B0004020202020204" pitchFamily="34" charset="0"/>
                <a:ea typeface="黑体" panose="02010609060101010101" pitchFamily="49" charset="-122"/>
              </a:rPr>
              <a:t>：</a:t>
            </a:r>
            <a:endParaRPr lang="en-US" altLang="zh-CN" sz="1201" b="1" dirty="0"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部署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Deploy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→ 演习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Manoeuvre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→ 支援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Support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D95B5D89-853D-C4C8-5A21-D980E11D002F}"/>
              </a:ext>
            </a:extLst>
          </p:cNvPr>
          <p:cNvSpPr txBox="1"/>
          <p:nvPr/>
        </p:nvSpPr>
        <p:spPr>
          <a:xfrm>
            <a:off x="272362" y="7964941"/>
            <a:ext cx="3586265" cy="4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1" b="1" dirty="0">
                <a:latin typeface="Arial" panose="020B0604020202020204" pitchFamily="34" charset="0"/>
                <a:ea typeface="黑体" panose="02010609060101010101" pitchFamily="49" charset="-122"/>
              </a:rPr>
              <a:t>向量补充</a:t>
            </a:r>
            <a:r>
              <a:rPr lang="zh-CN" altLang="en-US" sz="1201" b="1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zh-CN" altLang="zh-CN" sz="1201" dirty="0">
                <a:latin typeface="Arial" panose="020B0604020202020204" pitchFamily="34" charset="0"/>
                <a:ea typeface="黑体" panose="02010609060101010101" pitchFamily="49" charset="-122"/>
              </a:rPr>
              <a:t>加入抽后的事件，在论元抽取完成后进一步补充相关信息到向量数据库中。</a:t>
            </a:r>
            <a:endParaRPr lang="zh-CN" altLang="en-US" sz="120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D8AF8A96-6737-5BF3-2416-4048CE546BF6}"/>
              </a:ext>
            </a:extLst>
          </p:cNvPr>
          <p:cNvSpPr/>
          <p:nvPr/>
        </p:nvSpPr>
        <p:spPr>
          <a:xfrm>
            <a:off x="4340632" y="2831172"/>
            <a:ext cx="5637059" cy="5674711"/>
          </a:xfrm>
          <a:prstGeom prst="roundRect">
            <a:avLst>
              <a:gd name="adj" fmla="val 3778"/>
            </a:avLst>
          </a:prstGeom>
          <a:noFill/>
          <a:ln w="12700">
            <a:solidFill>
              <a:srgbClr val="315B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186931BF-6B30-0A26-DEEC-EEB220ECD423}"/>
              </a:ext>
            </a:extLst>
          </p:cNvPr>
          <p:cNvSpPr/>
          <p:nvPr/>
        </p:nvSpPr>
        <p:spPr>
          <a:xfrm>
            <a:off x="10245211" y="2837301"/>
            <a:ext cx="1800243" cy="5674711"/>
          </a:xfrm>
          <a:prstGeom prst="roundRect">
            <a:avLst>
              <a:gd name="adj" fmla="val 7268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E76FD230-C242-0C05-9474-929114D883BA}"/>
              </a:ext>
            </a:extLst>
          </p:cNvPr>
          <p:cNvSpPr txBox="1"/>
          <p:nvPr/>
        </p:nvSpPr>
        <p:spPr>
          <a:xfrm>
            <a:off x="4463328" y="2815609"/>
            <a:ext cx="5347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4.</a:t>
            </a:r>
            <a:r>
              <a:rPr lang="zh-CN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目标轨迹抽取与论元解析</a:t>
            </a:r>
            <a:endParaRPr lang="en-US" altLang="zh-CN" sz="1600" dirty="0">
              <a:solidFill>
                <a:srgbClr val="315BD4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Detailed Target Trajectory Extraction &amp; Argument Resolution</a:t>
            </a:r>
            <a:r>
              <a:rPr lang="zh-CN" altLang="zh-CN" sz="1600" dirty="0">
                <a:solidFill>
                  <a:srgbClr val="315BD4"/>
                </a:solidFill>
                <a:latin typeface="Aptos Display" panose="020B0004020202020204" pitchFamily="34" charset="0"/>
                <a:ea typeface="黑体" panose="02010609060101010101" pitchFamily="49" charset="-122"/>
              </a:rPr>
              <a:t>）</a:t>
            </a:r>
            <a:endParaRPr lang="zh-CN" altLang="en-US" sz="1600" dirty="0">
              <a:solidFill>
                <a:srgbClr val="315BD4"/>
              </a:solidFill>
              <a:latin typeface="Aptos Display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9" name="箭头: 下 118">
            <a:extLst>
              <a:ext uri="{FF2B5EF4-FFF2-40B4-BE49-F238E27FC236}">
                <a16:creationId xmlns:a16="http://schemas.microsoft.com/office/drawing/2014/main" id="{153680C3-0A59-D639-2DA2-C295E200E8AE}"/>
              </a:ext>
            </a:extLst>
          </p:cNvPr>
          <p:cNvSpPr/>
          <p:nvPr/>
        </p:nvSpPr>
        <p:spPr>
          <a:xfrm rot="16200000">
            <a:off x="4029876" y="6910718"/>
            <a:ext cx="308009" cy="217313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715FC8-54E4-BFC9-EB1B-F6F50052B6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4374" y="6540266"/>
            <a:ext cx="362024" cy="110180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C0E8DCC-1C0D-D940-6581-3F422A360CCE}"/>
              </a:ext>
            </a:extLst>
          </p:cNvPr>
          <p:cNvSpPr/>
          <p:nvPr/>
        </p:nvSpPr>
        <p:spPr>
          <a:xfrm>
            <a:off x="4503887" y="5181115"/>
            <a:ext cx="5347990" cy="3172659"/>
          </a:xfrm>
          <a:prstGeom prst="roundRect">
            <a:avLst>
              <a:gd name="adj" fmla="val 2041"/>
            </a:avLst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C56B05B-149C-A1D9-A3C1-077AFF8F2EE1}"/>
              </a:ext>
            </a:extLst>
          </p:cNvPr>
          <p:cNvSpPr/>
          <p:nvPr/>
        </p:nvSpPr>
        <p:spPr>
          <a:xfrm>
            <a:off x="4512859" y="3400384"/>
            <a:ext cx="5298460" cy="1577950"/>
          </a:xfrm>
          <a:prstGeom prst="roundRect">
            <a:avLst>
              <a:gd name="adj" fmla="val 7268"/>
            </a:avLst>
          </a:prstGeom>
          <a:noFill/>
          <a:ln w="12700">
            <a:solidFill>
              <a:srgbClr val="356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AF1509A-AA65-D8CC-4DC9-2F36C2080F15}"/>
              </a:ext>
            </a:extLst>
          </p:cNvPr>
          <p:cNvSpPr txBox="1"/>
          <p:nvPr/>
        </p:nvSpPr>
        <p:spPr>
          <a:xfrm>
            <a:off x="4614984" y="6682136"/>
            <a:ext cx="1671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演习（</a:t>
            </a:r>
            <a:r>
              <a:rPr lang="en-US" altLang="zh-CN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Manoeuvre</a:t>
            </a:r>
            <a:r>
              <a:rPr lang="zh-CN" altLang="en-US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1200" dirty="0">
              <a:solidFill>
                <a:srgbClr val="315BD4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315BD4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论元抽取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401202F-9DCB-7DCC-8A8A-92B60AED29BE}"/>
              </a:ext>
            </a:extLst>
          </p:cNvPr>
          <p:cNvSpPr txBox="1"/>
          <p:nvPr/>
        </p:nvSpPr>
        <p:spPr>
          <a:xfrm>
            <a:off x="6120947" y="6400621"/>
            <a:ext cx="3730930" cy="8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Subject: [“E_SAIPAN”, “E_HM15”]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Content: [“</a:t>
            </a:r>
            <a:r>
              <a:rPr lang="zh-CN" altLang="en-US" sz="1201" dirty="0">
                <a:latin typeface="Aptos" panose="020B0004020202020204" pitchFamily="34" charset="0"/>
                <a:ea typeface="黑体" panose="02010609060101010101" pitchFamily="49" charset="-122"/>
              </a:rPr>
              <a:t>展示扫雷能力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</a:p>
          <a:p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Date: [“11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7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日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Via: [“E_PERSIAN_GULF”]</a:t>
            </a:r>
            <a:endParaRPr lang="zh-CN" altLang="zh-CN" sz="1201" dirty="0"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E232FD3-4BFA-50FE-E05B-4F199658E855}"/>
              </a:ext>
            </a:extLst>
          </p:cNvPr>
          <p:cNvSpPr txBox="1"/>
          <p:nvPr/>
        </p:nvSpPr>
        <p:spPr>
          <a:xfrm>
            <a:off x="4807265" y="3397098"/>
            <a:ext cx="5257457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4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论元</a:t>
            </a:r>
            <a:r>
              <a:rPr lang="zh-CN" altLang="en-US" sz="14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共指消解（</a:t>
            </a:r>
            <a:r>
              <a:rPr lang="en-US" altLang="zh-CN" sz="14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Conference Resolution</a:t>
            </a:r>
            <a:r>
              <a:rPr lang="zh-CN" altLang="en-US" sz="1401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1401" dirty="0">
              <a:solidFill>
                <a:srgbClr val="356535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E0D5FEF-A660-125A-0BBD-9D83CC0253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3829" y="3409299"/>
            <a:ext cx="323696" cy="323696"/>
          </a:xfrm>
          <a:prstGeom prst="rect">
            <a:avLst/>
          </a:prstGeom>
        </p:spPr>
      </p:pic>
      <p:sp>
        <p:nvSpPr>
          <p:cNvPr id="53" name="箭头: 下 52">
            <a:extLst>
              <a:ext uri="{FF2B5EF4-FFF2-40B4-BE49-F238E27FC236}">
                <a16:creationId xmlns:a16="http://schemas.microsoft.com/office/drawing/2014/main" id="{B7B61B1B-DA37-2C6D-E9EE-36684ACC3787}"/>
              </a:ext>
            </a:extLst>
          </p:cNvPr>
          <p:cNvSpPr/>
          <p:nvPr/>
        </p:nvSpPr>
        <p:spPr>
          <a:xfrm>
            <a:off x="7111873" y="4999340"/>
            <a:ext cx="304136" cy="164994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69A90642-EDEE-8037-9486-F31E376A7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176" y="6415990"/>
            <a:ext cx="348635" cy="348635"/>
          </a:xfrm>
          <a:prstGeom prst="rect">
            <a:avLst/>
          </a:prstGeom>
        </p:spPr>
      </p:pic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105CED2-02AD-EC2F-403A-08540D759EAC}"/>
              </a:ext>
            </a:extLst>
          </p:cNvPr>
          <p:cNvCxnSpPr>
            <a:cxnSpLocks/>
          </p:cNvCxnSpPr>
          <p:nvPr/>
        </p:nvCxnSpPr>
        <p:spPr>
          <a:xfrm flipV="1">
            <a:off x="6076750" y="6294759"/>
            <a:ext cx="3664070" cy="10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3B6D026-2D99-DC01-D6F9-107482F1C516}"/>
              </a:ext>
            </a:extLst>
          </p:cNvPr>
          <p:cNvCxnSpPr>
            <a:cxnSpLocks/>
          </p:cNvCxnSpPr>
          <p:nvPr/>
        </p:nvCxnSpPr>
        <p:spPr>
          <a:xfrm flipH="1">
            <a:off x="6105392" y="7370362"/>
            <a:ext cx="3664070" cy="5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图片 63">
            <a:extLst>
              <a:ext uri="{FF2B5EF4-FFF2-40B4-BE49-F238E27FC236}">
                <a16:creationId xmlns:a16="http://schemas.microsoft.com/office/drawing/2014/main" id="{253205A0-3FE7-03AD-4643-D595C79F3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288" y="5355115"/>
            <a:ext cx="381388" cy="276507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48C45128-1E5D-E4FE-C554-7A6C29E20C6D}"/>
              </a:ext>
            </a:extLst>
          </p:cNvPr>
          <p:cNvSpPr txBox="1"/>
          <p:nvPr/>
        </p:nvSpPr>
        <p:spPr>
          <a:xfrm>
            <a:off x="4716768" y="5652628"/>
            <a:ext cx="145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部署（</a:t>
            </a:r>
            <a:r>
              <a:rPr lang="en-US" altLang="zh-CN" sz="1200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Deploy</a:t>
            </a:r>
            <a:r>
              <a:rPr lang="zh-CN" altLang="en-US" sz="1200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1200" dirty="0">
              <a:solidFill>
                <a:srgbClr val="356535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356535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论元抽取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C0C1530F-1DD0-7814-0A53-05F995141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057" y="7428921"/>
            <a:ext cx="299554" cy="369451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4D699660-B4B8-5BEE-9892-B2C4DD0540FF}"/>
              </a:ext>
            </a:extLst>
          </p:cNvPr>
          <p:cNvSpPr txBox="1"/>
          <p:nvPr/>
        </p:nvSpPr>
        <p:spPr>
          <a:xfrm>
            <a:off x="4701432" y="7743647"/>
            <a:ext cx="1555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支援（</a:t>
            </a:r>
            <a:r>
              <a:rPr lang="en-US" altLang="zh-CN" sz="1200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Support</a:t>
            </a:r>
            <a:r>
              <a:rPr lang="zh-CN" altLang="en-US" sz="1200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  <a:endParaRPr lang="en-US" altLang="zh-CN" sz="1200" dirty="0">
              <a:solidFill>
                <a:srgbClr val="DA5219"/>
              </a:solidFill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1200" dirty="0">
                <a:solidFill>
                  <a:srgbClr val="DA5219"/>
                </a:solidFill>
                <a:latin typeface="Aptos" panose="020B0004020202020204" pitchFamily="34" charset="0"/>
                <a:ea typeface="黑体" panose="02010609060101010101" pitchFamily="49" charset="-122"/>
              </a:rPr>
              <a:t>论元抽取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F6B5C48-6ACD-4D00-715E-B8962858141A}"/>
              </a:ext>
            </a:extLst>
          </p:cNvPr>
          <p:cNvSpPr txBox="1"/>
          <p:nvPr/>
        </p:nvSpPr>
        <p:spPr>
          <a:xfrm>
            <a:off x="4732678" y="3661892"/>
            <a:ext cx="514564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E_SAIPAN: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Aptos" panose="020B00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美国海军两栖攻击舰塞班号</a:t>
            </a:r>
            <a:r>
              <a:rPr lang="en-US" altLang="zh-CN" sz="12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/ “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塞班号</a:t>
            </a:r>
            <a:r>
              <a:rPr lang="en-US" altLang="zh-CN" sz="12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endParaRPr lang="en-US" altLang="zh-CN" sz="1100" dirty="0">
              <a:latin typeface="Aptos" panose="020B0004020202020204" pitchFamily="34" charset="0"/>
              <a:ea typeface="黑体" panose="02010609060101010101" pitchFamily="49" charset="-122"/>
            </a:endParaRPr>
          </a:p>
          <a:p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E_HM15: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直升机反水雷中队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15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黑鹰中队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”/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“HM-15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黑鹰中队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”/ “HM-15”</a:t>
            </a:r>
            <a:b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E_PERSIAN_GULF: “</a:t>
            </a:r>
            <a:r>
              <a:rPr lang="zh-CN" altLang="en-US" sz="1100" dirty="0">
                <a:latin typeface="Aptos" panose="020B0004020202020204" pitchFamily="34" charset="0"/>
                <a:ea typeface="黑体" panose="02010609060101010101" pitchFamily="49" charset="-122"/>
              </a:rPr>
              <a:t>波斯湾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</a:p>
          <a:p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E_MK105: “MK-105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磁感扫雷系统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”/ “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雪橇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b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E_USNAVY: “M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国海军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</a:p>
          <a:p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E_MH53E: “HM-53E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海龙直升机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</a:p>
          <a:p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E_USNAVY_5TH_FLEET: “M</a:t>
            </a:r>
            <a:r>
              <a:rPr lang="zh-CN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国海军第五舰队</a:t>
            </a:r>
            <a:r>
              <a:rPr lang="en-US" altLang="zh-CN" sz="11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endParaRPr lang="zh-CN" altLang="zh-CN" sz="1100" dirty="0"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990F327-F29A-CEC8-C1AE-A793C0F02F20}"/>
              </a:ext>
            </a:extLst>
          </p:cNvPr>
          <p:cNvSpPr txBox="1"/>
          <p:nvPr/>
        </p:nvSpPr>
        <p:spPr>
          <a:xfrm>
            <a:off x="6138278" y="5238566"/>
            <a:ext cx="3705911" cy="1016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Subject: [“E_USNAVY</a:t>
            </a:r>
            <a:r>
              <a:rPr lang="en-US" altLang="zh-CN" sz="1200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Militaryforce</a:t>
            </a:r>
            <a:r>
              <a:rPr lang="en-US" altLang="zh-CN" sz="1200" dirty="0">
                <a:latin typeface="Aptos" panose="020B0004020202020204" pitchFamily="34" charset="0"/>
                <a:ea typeface="黑体" panose="02010609060101010101" pitchFamily="49" charset="-122"/>
              </a:rPr>
              <a:t>: 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[“E_SAIPAN”]</a:t>
            </a:r>
          </a:p>
          <a:p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Date: [“11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日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Via: [“</a:t>
            </a:r>
            <a:r>
              <a:rPr lang="zh-CN" altLang="en-US" sz="1201" dirty="0">
                <a:latin typeface="Aptos" panose="020B0004020202020204" pitchFamily="34" charset="0"/>
                <a:ea typeface="黑体" panose="02010609060101010101" pitchFamily="49" charset="-122"/>
              </a:rPr>
              <a:t>阿曼湾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1201" dirty="0">
                <a:latin typeface="Aptos" panose="020B0004020202020204" pitchFamily="34" charset="0"/>
                <a:ea typeface="黑体" panose="02010609060101010101" pitchFamily="49" charset="-122"/>
              </a:rPr>
              <a:t>波斯湾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1201" dirty="0">
                <a:latin typeface="Aptos" panose="020B0004020202020204" pitchFamily="34" charset="0"/>
                <a:ea typeface="黑体" panose="02010609060101010101" pitchFamily="49" charset="-122"/>
              </a:rPr>
              <a:t>阿拉伯海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红海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Destination: [“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美国海军第五舰队作战区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  <a:endParaRPr lang="zh-CN" altLang="zh-CN" sz="1201" dirty="0"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C75EFAB-E3C6-484B-BAA6-2CF6DE1F126E}"/>
              </a:ext>
            </a:extLst>
          </p:cNvPr>
          <p:cNvSpPr txBox="1"/>
          <p:nvPr/>
        </p:nvSpPr>
        <p:spPr>
          <a:xfrm>
            <a:off x="6105392" y="7557403"/>
            <a:ext cx="3687464" cy="461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Subject: [“E_USNAVY_5TH_FLEET”, “E_SEPAN”]</a:t>
            </a:r>
            <a:b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Result: [“</a:t>
            </a:r>
            <a:r>
              <a:rPr lang="zh-CN" altLang="en-US" sz="1201" dirty="0">
                <a:latin typeface="Aptos" panose="020B0004020202020204" pitchFamily="34" charset="0"/>
                <a:ea typeface="黑体" panose="02010609060101010101" pitchFamily="49" charset="-122"/>
              </a:rPr>
              <a:t>维护</a:t>
            </a:r>
            <a:r>
              <a:rPr lang="zh-CN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海上安全与稳定、支持及地区安全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</a:rPr>
              <a:t>”]</a:t>
            </a:r>
            <a:endParaRPr lang="zh-CN" altLang="zh-CN" sz="1201" dirty="0">
              <a:latin typeface="Aptos" panose="020B0004020202020204" pitchFamily="34" charset="0"/>
              <a:ea typeface="黑体" panose="02010609060101010101" pitchFamily="49" charset="-122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3A3BEC51-A6E6-C3E8-357B-29B9A5EFDBFE}"/>
              </a:ext>
            </a:extLst>
          </p:cNvPr>
          <p:cNvCxnSpPr>
            <a:cxnSpLocks/>
          </p:cNvCxnSpPr>
          <p:nvPr/>
        </p:nvCxnSpPr>
        <p:spPr>
          <a:xfrm flipV="1">
            <a:off x="289994" y="7443837"/>
            <a:ext cx="3623666" cy="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8DA0DA41-CDB8-4624-F664-E85BF70F8A1B}"/>
              </a:ext>
            </a:extLst>
          </p:cNvPr>
          <p:cNvCxnSpPr>
            <a:cxnSpLocks/>
          </p:cNvCxnSpPr>
          <p:nvPr/>
        </p:nvCxnSpPr>
        <p:spPr>
          <a:xfrm>
            <a:off x="283712" y="7973961"/>
            <a:ext cx="36299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2F6398E-A67D-DCF4-9C15-D8E2A06D75AD}"/>
              </a:ext>
            </a:extLst>
          </p:cNvPr>
          <p:cNvSpPr txBox="1"/>
          <p:nvPr/>
        </p:nvSpPr>
        <p:spPr>
          <a:xfrm>
            <a:off x="10136908" y="3439048"/>
            <a:ext cx="2033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dirty="0">
                <a:latin typeface="Aptos" panose="020B0004020202020204" pitchFamily="34" charset="0"/>
                <a:ea typeface="黑体" panose="02010609060101010101" pitchFamily="49" charset="-122"/>
              </a:rPr>
              <a:t>5. 结构化输出</a:t>
            </a:r>
            <a:br>
              <a:rPr lang="zh-CN" altLang="zh-CN" sz="1600" dirty="0">
                <a:latin typeface="Aptos" panose="020B0004020202020204" pitchFamily="34" charset="0"/>
                <a:ea typeface="黑体" panose="02010609060101010101" pitchFamily="49" charset="-122"/>
              </a:rPr>
            </a:br>
            <a:r>
              <a:rPr lang="zh-CN" altLang="en-US" sz="1600" dirty="0">
                <a:latin typeface="Aptos" panose="020B00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1600" dirty="0">
                <a:latin typeface="Aptos Display" panose="020B0004020202020204" pitchFamily="34" charset="0"/>
                <a:ea typeface="黑体" panose="02010609060101010101" pitchFamily="49" charset="-122"/>
              </a:rPr>
              <a:t>Structured Output</a:t>
            </a:r>
            <a:r>
              <a:rPr lang="zh-CN" altLang="en-US" sz="1600" dirty="0">
                <a:latin typeface="Aptos" panose="020B0004020202020204" pitchFamily="34" charset="0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116" name="图形 115">
            <a:extLst>
              <a:ext uri="{FF2B5EF4-FFF2-40B4-BE49-F238E27FC236}">
                <a16:creationId xmlns:a16="http://schemas.microsoft.com/office/drawing/2014/main" id="{FCB9116B-F54A-A2C7-6B07-FC128AF8C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0909772" y="2900851"/>
            <a:ext cx="507969" cy="507969"/>
          </a:xfrm>
          <a:prstGeom prst="rect">
            <a:avLst/>
          </a:prstGeom>
        </p:spPr>
      </p:pic>
      <p:sp>
        <p:nvSpPr>
          <p:cNvPr id="120" name="文本框 119">
            <a:extLst>
              <a:ext uri="{FF2B5EF4-FFF2-40B4-BE49-F238E27FC236}">
                <a16:creationId xmlns:a16="http://schemas.microsoft.com/office/drawing/2014/main" id="{04EEFFD4-B246-1FC3-9149-5D0E375828B7}"/>
              </a:ext>
            </a:extLst>
          </p:cNvPr>
          <p:cNvSpPr txBox="1"/>
          <p:nvPr/>
        </p:nvSpPr>
        <p:spPr>
          <a:xfrm>
            <a:off x="10189610" y="4195234"/>
            <a:ext cx="1244042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1" b="1" dirty="0">
                <a:latin typeface="黑体" panose="02010609060101010101" pitchFamily="49" charset="-122"/>
                <a:ea typeface="黑体" panose="02010609060101010101" pitchFamily="49" charset="-122"/>
              </a:rPr>
              <a:t>输出内容：</a:t>
            </a:r>
          </a:p>
        </p:txBody>
      </p:sp>
      <p:pic>
        <p:nvPicPr>
          <p:cNvPr id="124" name="图片 123">
            <a:extLst>
              <a:ext uri="{FF2B5EF4-FFF2-40B4-BE49-F238E27FC236}">
                <a16:creationId xmlns:a16="http://schemas.microsoft.com/office/drawing/2014/main" id="{02E0CF3C-99B8-9E13-FACC-BA4FA1CF92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5470" y="4593563"/>
            <a:ext cx="252019" cy="252019"/>
          </a:xfrm>
          <a:prstGeom prst="rect">
            <a:avLst/>
          </a:prstGeom>
        </p:spPr>
      </p:pic>
      <p:sp>
        <p:nvSpPr>
          <p:cNvPr id="126" name="文本框 125">
            <a:extLst>
              <a:ext uri="{FF2B5EF4-FFF2-40B4-BE49-F238E27FC236}">
                <a16:creationId xmlns:a16="http://schemas.microsoft.com/office/drawing/2014/main" id="{428A97C6-2BC2-F768-2209-CDDA51D390E1}"/>
              </a:ext>
            </a:extLst>
          </p:cNvPr>
          <p:cNvSpPr txBox="1"/>
          <p:nvPr/>
        </p:nvSpPr>
        <p:spPr>
          <a:xfrm>
            <a:off x="10721348" y="4602211"/>
            <a:ext cx="1121585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latin typeface="黑体" panose="02010609060101010101" pitchFamily="49" charset="-122"/>
                <a:ea typeface="黑体" panose="02010609060101010101" pitchFamily="49" charset="-122"/>
              </a:rPr>
              <a:t>标准化事件链</a:t>
            </a:r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7277AF48-F7DD-BD1E-7F14-2F3A4CFF06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60650" y="5014688"/>
            <a:ext cx="266837" cy="248727"/>
          </a:xfrm>
          <a:prstGeom prst="rect">
            <a:avLst/>
          </a:prstGeom>
        </p:spPr>
      </p:pic>
      <p:sp>
        <p:nvSpPr>
          <p:cNvPr id="130" name="文本框 129">
            <a:extLst>
              <a:ext uri="{FF2B5EF4-FFF2-40B4-BE49-F238E27FC236}">
                <a16:creationId xmlns:a16="http://schemas.microsoft.com/office/drawing/2014/main" id="{E41F3D15-36D3-EF40-5F47-2F2EE4A109BB}"/>
              </a:ext>
            </a:extLst>
          </p:cNvPr>
          <p:cNvSpPr txBox="1"/>
          <p:nvPr/>
        </p:nvSpPr>
        <p:spPr>
          <a:xfrm>
            <a:off x="10738836" y="5008945"/>
            <a:ext cx="1270167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1" dirty="0">
                <a:latin typeface="黑体" panose="02010609060101010101" pitchFamily="49" charset="-122"/>
                <a:ea typeface="黑体" panose="02010609060101010101" pitchFamily="49" charset="-122"/>
              </a:rPr>
              <a:t>论元结构化信息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5BA799D6-9E81-1308-5B43-D580B35A685A}"/>
              </a:ext>
            </a:extLst>
          </p:cNvPr>
          <p:cNvSpPr txBox="1"/>
          <p:nvPr/>
        </p:nvSpPr>
        <p:spPr>
          <a:xfrm>
            <a:off x="9655295" y="5824921"/>
            <a:ext cx="2355621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1" b="1" dirty="0">
                <a:latin typeface="黑体" panose="02010609060101010101" pitchFamily="49" charset="-122"/>
                <a:ea typeface="黑体" panose="02010609060101010101" pitchFamily="49" charset="-122"/>
              </a:rPr>
              <a:t>输出形式：</a:t>
            </a:r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0B655614-3BA0-FAF1-F3B4-64FAEE5D47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61833" y="6312833"/>
            <a:ext cx="277000" cy="277000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DBA547F0-883D-4E7A-AA5D-6069CEEF2CBC}"/>
              </a:ext>
            </a:extLst>
          </p:cNvPr>
          <p:cNvSpPr txBox="1"/>
          <p:nvPr/>
        </p:nvSpPr>
        <p:spPr>
          <a:xfrm>
            <a:off x="10856162" y="6312834"/>
            <a:ext cx="1121585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1" dirty="0">
                <a:latin typeface="Aptos" panose="020B0004020202020204" pitchFamily="34" charset="0"/>
                <a:cs typeface="Arial" panose="020B0604020202020204" pitchFamily="34" charset="0"/>
              </a:rPr>
              <a:t>JSON</a:t>
            </a:r>
          </a:p>
        </p:txBody>
      </p:sp>
      <p:pic>
        <p:nvPicPr>
          <p:cNvPr id="138" name="图片 137">
            <a:extLst>
              <a:ext uri="{FF2B5EF4-FFF2-40B4-BE49-F238E27FC236}">
                <a16:creationId xmlns:a16="http://schemas.microsoft.com/office/drawing/2014/main" id="{A81377EA-2392-5EB3-C859-D45A63F4F9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60650" y="6731544"/>
            <a:ext cx="287831" cy="287831"/>
          </a:xfrm>
          <a:prstGeom prst="rect">
            <a:avLst/>
          </a:prstGeom>
        </p:spPr>
      </p:pic>
      <p:sp>
        <p:nvSpPr>
          <p:cNvPr id="140" name="文本框 139">
            <a:extLst>
              <a:ext uri="{FF2B5EF4-FFF2-40B4-BE49-F238E27FC236}">
                <a16:creationId xmlns:a16="http://schemas.microsoft.com/office/drawing/2014/main" id="{B3BABE1C-E6C1-4213-EE80-A5EE0336C4D6}"/>
              </a:ext>
            </a:extLst>
          </p:cNvPr>
          <p:cNvSpPr txBox="1"/>
          <p:nvPr/>
        </p:nvSpPr>
        <p:spPr>
          <a:xfrm>
            <a:off x="10887418" y="6755542"/>
            <a:ext cx="1121585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1" dirty="0">
                <a:latin typeface="Aptos" panose="020B0004020202020204" pitchFamily="34" charset="0"/>
                <a:cs typeface="Arial" panose="020B0604020202020204" pitchFamily="34" charset="0"/>
              </a:rPr>
              <a:t>PDF</a:t>
            </a:r>
          </a:p>
        </p:txBody>
      </p:sp>
      <p:pic>
        <p:nvPicPr>
          <p:cNvPr id="142" name="图片 141">
            <a:extLst>
              <a:ext uri="{FF2B5EF4-FFF2-40B4-BE49-F238E27FC236}">
                <a16:creationId xmlns:a16="http://schemas.microsoft.com/office/drawing/2014/main" id="{244F734F-1BC5-40A2-1706-DAD0ED00B8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52937" y="7213583"/>
            <a:ext cx="358694" cy="341747"/>
          </a:xfrm>
          <a:prstGeom prst="rect">
            <a:avLst/>
          </a:prstGeom>
        </p:spPr>
      </p:pic>
      <p:sp>
        <p:nvSpPr>
          <p:cNvPr id="144" name="文本框 143">
            <a:extLst>
              <a:ext uri="{FF2B5EF4-FFF2-40B4-BE49-F238E27FC236}">
                <a16:creationId xmlns:a16="http://schemas.microsoft.com/office/drawing/2014/main" id="{AC45404F-6DBA-78E3-1BE8-7697A386A96B}"/>
              </a:ext>
            </a:extLst>
          </p:cNvPr>
          <p:cNvSpPr txBox="1"/>
          <p:nvPr/>
        </p:nvSpPr>
        <p:spPr>
          <a:xfrm>
            <a:off x="10819257" y="7227145"/>
            <a:ext cx="1121585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事件知识图谱</a:t>
            </a:r>
            <a:endParaRPr lang="en-US" altLang="zh-CN" sz="120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5B92591E-B994-D242-AA18-02AE15524C9D}"/>
              </a:ext>
            </a:extLst>
          </p:cNvPr>
          <p:cNvSpPr txBox="1"/>
          <p:nvPr/>
        </p:nvSpPr>
        <p:spPr>
          <a:xfrm>
            <a:off x="10195027" y="7611057"/>
            <a:ext cx="1846216" cy="27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1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（支持</a:t>
            </a:r>
            <a:r>
              <a:rPr lang="en-US" altLang="zh-CN" sz="1201" dirty="0">
                <a:latin typeface="Aptos" panose="020B00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CCFA</a:t>
            </a:r>
            <a:r>
              <a:rPr lang="zh-CN" altLang="en-US" sz="1201" dirty="0"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标准化接口）</a:t>
            </a:r>
            <a:endParaRPr lang="en-US" altLang="zh-CN" sz="1201" dirty="0"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789629D-F18A-40BC-89EE-9F4B158A1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38823" y="6134018"/>
            <a:ext cx="191101" cy="191101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7A9CDBD9-C873-5D21-28DE-B875B3414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38822" y="7195335"/>
            <a:ext cx="191101" cy="191101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BBD3DC40-81DF-A9FA-BF7F-11BA3CA0B998}"/>
              </a:ext>
            </a:extLst>
          </p:cNvPr>
          <p:cNvSpPr/>
          <p:nvPr/>
        </p:nvSpPr>
        <p:spPr>
          <a:xfrm rot="16200000">
            <a:off x="9957458" y="5217533"/>
            <a:ext cx="308009" cy="217313"/>
          </a:xfrm>
          <a:prstGeom prst="downArrow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34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1168</TotalTime>
  <Words>643</Words>
  <Application>Microsoft Office PowerPoint</Application>
  <PresentationFormat>自定义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Aptos</vt:lpstr>
      <vt:lpstr>Aptos Display</vt:lpstr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shi'fang</dc:creator>
  <cp:lastModifiedBy>user</cp:lastModifiedBy>
  <cp:revision>171</cp:revision>
  <dcterms:created xsi:type="dcterms:W3CDTF">2023-08-09T12:44:00Z</dcterms:created>
  <dcterms:modified xsi:type="dcterms:W3CDTF">2026-06-13T09:34:54Z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